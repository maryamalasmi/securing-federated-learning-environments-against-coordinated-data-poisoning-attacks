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133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AB69C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AB69C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AB69C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813825" y="4287788"/>
            <a:ext cx="7300594" cy="5236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731B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139587" cy="28439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AB69C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4DE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4512" y="0"/>
            <a:ext cx="8853487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8309" y="1413899"/>
            <a:ext cx="11396160" cy="1348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AB69C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6867" y="3262148"/>
            <a:ext cx="7677784" cy="5469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96364" y="7479689"/>
              <a:ext cx="3791634" cy="280731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28909" y="0"/>
              <a:ext cx="3067049" cy="24107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3349477" cy="27122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8700" y="628962"/>
              <a:ext cx="3779340" cy="14763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0496" y="2108807"/>
              <a:ext cx="2752724" cy="1266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039352" y="2324703"/>
            <a:ext cx="510413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74015">
              <a:lnSpc>
                <a:spcPct val="126600"/>
              </a:lnSpc>
              <a:spcBef>
                <a:spcPts val="95"/>
              </a:spcBef>
            </a:pPr>
            <a:r>
              <a:rPr sz="1250" spc="-155" dirty="0">
                <a:solidFill>
                  <a:srgbClr val="653293"/>
                </a:solidFill>
                <a:latin typeface="Arial Black"/>
                <a:cs typeface="Arial Black"/>
              </a:rPr>
              <a:t>FACULTY</a:t>
            </a:r>
            <a:r>
              <a:rPr sz="1250" spc="20" dirty="0">
                <a:solidFill>
                  <a:srgbClr val="653293"/>
                </a:solidFill>
                <a:latin typeface="Arial Black"/>
                <a:cs typeface="Arial Black"/>
              </a:rPr>
              <a:t> </a:t>
            </a:r>
            <a:r>
              <a:rPr sz="1250" spc="-60" dirty="0">
                <a:solidFill>
                  <a:srgbClr val="653293"/>
                </a:solidFill>
                <a:latin typeface="Arial Black"/>
                <a:cs typeface="Arial Black"/>
              </a:rPr>
              <a:t>OF</a:t>
            </a:r>
            <a:r>
              <a:rPr sz="1250" spc="20" dirty="0">
                <a:solidFill>
                  <a:srgbClr val="653293"/>
                </a:solidFill>
                <a:latin typeface="Arial Black"/>
                <a:cs typeface="Arial Black"/>
              </a:rPr>
              <a:t> </a:t>
            </a:r>
            <a:r>
              <a:rPr sz="1250" spc="-95" dirty="0">
                <a:solidFill>
                  <a:srgbClr val="653293"/>
                </a:solidFill>
                <a:latin typeface="Arial Black"/>
                <a:cs typeface="Arial Black"/>
              </a:rPr>
              <a:t>ARTIFICIAL</a:t>
            </a:r>
            <a:r>
              <a:rPr sz="1250" spc="25" dirty="0">
                <a:solidFill>
                  <a:srgbClr val="653293"/>
                </a:solidFill>
                <a:latin typeface="Arial Black"/>
                <a:cs typeface="Arial Black"/>
              </a:rPr>
              <a:t> </a:t>
            </a:r>
            <a:r>
              <a:rPr sz="1250" spc="-105" dirty="0">
                <a:solidFill>
                  <a:srgbClr val="653293"/>
                </a:solidFill>
                <a:latin typeface="Arial Black"/>
                <a:cs typeface="Arial Black"/>
              </a:rPr>
              <a:t>INTELLIGENCE</a:t>
            </a:r>
            <a:r>
              <a:rPr sz="1250" spc="20" dirty="0">
                <a:solidFill>
                  <a:srgbClr val="653293"/>
                </a:solidFill>
                <a:latin typeface="Arial Black"/>
                <a:cs typeface="Arial Black"/>
              </a:rPr>
              <a:t> </a:t>
            </a:r>
            <a:r>
              <a:rPr sz="1250" spc="-10" dirty="0">
                <a:solidFill>
                  <a:srgbClr val="653293"/>
                </a:solidFill>
                <a:latin typeface="Arial Black"/>
                <a:cs typeface="Arial Black"/>
              </a:rPr>
              <a:t>ENGINEERING </a:t>
            </a:r>
            <a:r>
              <a:rPr sz="1250" spc="-105" dirty="0">
                <a:solidFill>
                  <a:srgbClr val="653293"/>
                </a:solidFill>
                <a:latin typeface="Arial Black"/>
                <a:cs typeface="Arial Black"/>
              </a:rPr>
              <a:t>INTELLIGENT</a:t>
            </a:r>
            <a:r>
              <a:rPr sz="1250" spc="50" dirty="0">
                <a:solidFill>
                  <a:srgbClr val="653293"/>
                </a:solidFill>
                <a:latin typeface="Arial Black"/>
                <a:cs typeface="Arial Black"/>
              </a:rPr>
              <a:t> </a:t>
            </a:r>
            <a:r>
              <a:rPr sz="1250" spc="-60" dirty="0">
                <a:solidFill>
                  <a:srgbClr val="653293"/>
                </a:solidFill>
                <a:latin typeface="Arial Black"/>
                <a:cs typeface="Arial Black"/>
              </a:rPr>
              <a:t>INFORMATION</a:t>
            </a:r>
            <a:r>
              <a:rPr sz="1250" spc="55" dirty="0">
                <a:solidFill>
                  <a:srgbClr val="653293"/>
                </a:solidFill>
                <a:latin typeface="Arial Black"/>
                <a:cs typeface="Arial Black"/>
              </a:rPr>
              <a:t> </a:t>
            </a:r>
            <a:r>
              <a:rPr sz="1250" spc="-145" dirty="0">
                <a:solidFill>
                  <a:srgbClr val="653293"/>
                </a:solidFill>
                <a:latin typeface="Arial Black"/>
                <a:cs typeface="Arial Black"/>
              </a:rPr>
              <a:t>SECURITY</a:t>
            </a:r>
            <a:r>
              <a:rPr sz="1250" spc="55" dirty="0">
                <a:solidFill>
                  <a:srgbClr val="653293"/>
                </a:solidFill>
                <a:latin typeface="Arial Black"/>
                <a:cs typeface="Arial Black"/>
              </a:rPr>
              <a:t> </a:t>
            </a:r>
            <a:r>
              <a:rPr sz="1250" spc="-165" dirty="0">
                <a:solidFill>
                  <a:srgbClr val="653293"/>
                </a:solidFill>
                <a:latin typeface="Arial Black"/>
                <a:cs typeface="Arial Black"/>
              </a:rPr>
              <a:t>SYSTEMS</a:t>
            </a:r>
            <a:r>
              <a:rPr sz="1250" spc="55" dirty="0">
                <a:solidFill>
                  <a:srgbClr val="653293"/>
                </a:solidFill>
                <a:latin typeface="Arial Black"/>
                <a:cs typeface="Arial Black"/>
              </a:rPr>
              <a:t> </a:t>
            </a:r>
            <a:r>
              <a:rPr sz="1250" spc="-80" dirty="0">
                <a:solidFill>
                  <a:srgbClr val="653293"/>
                </a:solidFill>
                <a:latin typeface="Arial Black"/>
                <a:cs typeface="Arial Black"/>
              </a:rPr>
              <a:t>ENGINEERING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2374" y="4101175"/>
            <a:ext cx="8096884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b="1" dirty="0">
                <a:solidFill>
                  <a:srgbClr val="731B9E"/>
                </a:solidFill>
                <a:latin typeface="Book Antiqua"/>
                <a:cs typeface="Book Antiqua"/>
              </a:rPr>
              <a:t>Against</a:t>
            </a:r>
            <a:r>
              <a:rPr sz="2950" b="1" spc="170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2950" b="1" spc="70" dirty="0">
                <a:solidFill>
                  <a:srgbClr val="731B9E"/>
                </a:solidFill>
                <a:latin typeface="Book Antiqua"/>
                <a:cs typeface="Book Antiqua"/>
              </a:rPr>
              <a:t>Coordinated</a:t>
            </a:r>
            <a:r>
              <a:rPr sz="2950" b="1" spc="165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2950" b="1" spc="50" dirty="0">
                <a:solidFill>
                  <a:srgbClr val="731B9E"/>
                </a:solidFill>
                <a:latin typeface="Book Antiqua"/>
                <a:cs typeface="Book Antiqua"/>
              </a:rPr>
              <a:t>Data</a:t>
            </a:r>
            <a:r>
              <a:rPr sz="2950" b="1" spc="170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2950" b="1" spc="50" dirty="0">
                <a:solidFill>
                  <a:srgbClr val="731B9E"/>
                </a:solidFill>
                <a:latin typeface="Book Antiqua"/>
                <a:cs typeface="Book Antiqua"/>
              </a:rPr>
              <a:t>Poisoning</a:t>
            </a:r>
            <a:r>
              <a:rPr sz="2950" b="1" spc="165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2950" b="1" spc="65" dirty="0">
                <a:solidFill>
                  <a:srgbClr val="731B9E"/>
                </a:solidFill>
                <a:latin typeface="Book Antiqua"/>
                <a:cs typeface="Book Antiqua"/>
              </a:rPr>
              <a:t>Attacks</a:t>
            </a:r>
            <a:endParaRPr sz="2950">
              <a:latin typeface="Book Antiqua"/>
              <a:cs typeface="Book Antiqu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255031" y="3452552"/>
            <a:ext cx="11473180" cy="53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50" spc="490" dirty="0">
                <a:solidFill>
                  <a:srgbClr val="731B9E"/>
                </a:solidFill>
              </a:rPr>
              <a:t>SECURING</a:t>
            </a:r>
            <a:r>
              <a:rPr sz="3350" spc="204" dirty="0">
                <a:solidFill>
                  <a:srgbClr val="731B9E"/>
                </a:solidFill>
              </a:rPr>
              <a:t> </a:t>
            </a:r>
            <a:r>
              <a:rPr sz="3350" spc="575" dirty="0">
                <a:solidFill>
                  <a:srgbClr val="731B9E"/>
                </a:solidFill>
              </a:rPr>
              <a:t>FEDERATED</a:t>
            </a:r>
            <a:r>
              <a:rPr sz="3350" spc="210" dirty="0">
                <a:solidFill>
                  <a:srgbClr val="731B9E"/>
                </a:solidFill>
              </a:rPr>
              <a:t> </a:t>
            </a:r>
            <a:r>
              <a:rPr sz="3350" spc="484" dirty="0">
                <a:solidFill>
                  <a:srgbClr val="731B9E"/>
                </a:solidFill>
              </a:rPr>
              <a:t>LEARNING</a:t>
            </a:r>
            <a:r>
              <a:rPr sz="3350" spc="204" dirty="0">
                <a:solidFill>
                  <a:srgbClr val="731B9E"/>
                </a:solidFill>
              </a:rPr>
              <a:t> </a:t>
            </a:r>
            <a:r>
              <a:rPr sz="3350" spc="459" dirty="0">
                <a:solidFill>
                  <a:srgbClr val="731B9E"/>
                </a:solidFill>
              </a:rPr>
              <a:t>ENVIRONMENTS</a:t>
            </a:r>
            <a:endParaRPr sz="3350"/>
          </a:p>
        </p:txBody>
      </p:sp>
      <p:sp>
        <p:nvSpPr>
          <p:cNvPr id="12" name="object 12"/>
          <p:cNvSpPr txBox="1"/>
          <p:nvPr/>
        </p:nvSpPr>
        <p:spPr>
          <a:xfrm>
            <a:off x="4450779" y="6987803"/>
            <a:ext cx="10183495" cy="265239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R="827405" algn="ctr">
              <a:lnSpc>
                <a:spcPct val="100000"/>
              </a:lnSpc>
              <a:spcBef>
                <a:spcPts val="1215"/>
              </a:spcBef>
            </a:pPr>
            <a:r>
              <a:rPr sz="2250" b="1" spc="95" dirty="0">
                <a:solidFill>
                  <a:srgbClr val="653293"/>
                </a:solidFill>
                <a:latin typeface="Book Antiqua"/>
                <a:cs typeface="Book Antiqua"/>
              </a:rPr>
              <a:t>Prepared</a:t>
            </a:r>
            <a:r>
              <a:rPr sz="2250" b="1" spc="90" dirty="0">
                <a:solidFill>
                  <a:srgbClr val="653293"/>
                </a:solidFill>
                <a:latin typeface="Book Antiqua"/>
                <a:cs typeface="Book Antiqua"/>
              </a:rPr>
              <a:t> </a:t>
            </a:r>
            <a:r>
              <a:rPr sz="2250" b="1" spc="-25" dirty="0">
                <a:solidFill>
                  <a:srgbClr val="653293"/>
                </a:solidFill>
                <a:latin typeface="Book Antiqua"/>
                <a:cs typeface="Book Antiqua"/>
              </a:rPr>
              <a:t>by:</a:t>
            </a:r>
            <a:endParaRPr sz="22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  <a:tabLst>
                <a:tab pos="5211445" algn="l"/>
              </a:tabLst>
            </a:pPr>
            <a:r>
              <a:rPr sz="3100" b="1" spc="90" dirty="0">
                <a:solidFill>
                  <a:srgbClr val="731B9E"/>
                </a:solidFill>
                <a:latin typeface="Book Antiqua"/>
                <a:cs typeface="Book Antiqua"/>
              </a:rPr>
              <a:t>Maryam</a:t>
            </a:r>
            <a:r>
              <a:rPr sz="3100" b="1" spc="120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3100" b="1" spc="90" dirty="0">
                <a:solidFill>
                  <a:srgbClr val="731B9E"/>
                </a:solidFill>
                <a:latin typeface="Book Antiqua"/>
                <a:cs typeface="Book Antiqua"/>
              </a:rPr>
              <a:t>Yaser</a:t>
            </a:r>
            <a:r>
              <a:rPr sz="3100" b="1" spc="125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3100" b="1" spc="-10" dirty="0">
                <a:solidFill>
                  <a:srgbClr val="731B9E"/>
                </a:solidFill>
                <a:latin typeface="Book Antiqua"/>
                <a:cs typeface="Book Antiqua"/>
              </a:rPr>
              <a:t>AlAsmi</a:t>
            </a:r>
            <a:r>
              <a:rPr sz="3100" b="1" dirty="0">
                <a:solidFill>
                  <a:srgbClr val="731B9E"/>
                </a:solidFill>
                <a:latin typeface="Book Antiqua"/>
                <a:cs typeface="Book Antiqua"/>
              </a:rPr>
              <a:t>	Maya</a:t>
            </a:r>
            <a:r>
              <a:rPr sz="3100" b="1" spc="140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3100" b="1" spc="70" dirty="0">
                <a:solidFill>
                  <a:srgbClr val="731B9E"/>
                </a:solidFill>
                <a:latin typeface="Book Antiqua"/>
                <a:cs typeface="Book Antiqua"/>
              </a:rPr>
              <a:t>Hesham</a:t>
            </a:r>
            <a:r>
              <a:rPr sz="3100" b="1" spc="140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3100" b="1" spc="65" dirty="0">
                <a:solidFill>
                  <a:srgbClr val="731B9E"/>
                </a:solidFill>
                <a:latin typeface="Book Antiqua"/>
                <a:cs typeface="Book Antiqua"/>
              </a:rPr>
              <a:t>Daghestani</a:t>
            </a:r>
            <a:endParaRPr sz="3100">
              <a:latin typeface="Book Antiqua"/>
              <a:cs typeface="Book Antiqua"/>
            </a:endParaRPr>
          </a:p>
          <a:p>
            <a:pPr marR="867410" algn="ctr">
              <a:lnSpc>
                <a:spcPct val="100000"/>
              </a:lnSpc>
              <a:spcBef>
                <a:spcPts val="2900"/>
              </a:spcBef>
            </a:pPr>
            <a:r>
              <a:rPr sz="2250" b="1" spc="50" dirty="0">
                <a:solidFill>
                  <a:srgbClr val="653293"/>
                </a:solidFill>
                <a:latin typeface="Book Antiqua"/>
                <a:cs typeface="Book Antiqua"/>
              </a:rPr>
              <a:t>Supervised</a:t>
            </a:r>
            <a:r>
              <a:rPr sz="2250" b="1" spc="45" dirty="0">
                <a:solidFill>
                  <a:srgbClr val="653293"/>
                </a:solidFill>
                <a:latin typeface="Book Antiqua"/>
                <a:cs typeface="Book Antiqua"/>
              </a:rPr>
              <a:t> </a:t>
            </a:r>
            <a:r>
              <a:rPr sz="2250" b="1" dirty="0">
                <a:solidFill>
                  <a:srgbClr val="653293"/>
                </a:solidFill>
                <a:latin typeface="Book Antiqua"/>
                <a:cs typeface="Book Antiqua"/>
              </a:rPr>
              <a:t>by</a:t>
            </a:r>
            <a:r>
              <a:rPr sz="2250" b="1" spc="55" dirty="0">
                <a:solidFill>
                  <a:srgbClr val="653293"/>
                </a:solidFill>
                <a:latin typeface="Book Antiqua"/>
                <a:cs typeface="Book Antiqua"/>
              </a:rPr>
              <a:t> </a:t>
            </a:r>
            <a:r>
              <a:rPr sz="2250" b="1" spc="-50" dirty="0">
                <a:solidFill>
                  <a:srgbClr val="653293"/>
                </a:solidFill>
                <a:latin typeface="Book Antiqua"/>
                <a:cs typeface="Book Antiqua"/>
              </a:rPr>
              <a:t>:</a:t>
            </a:r>
            <a:endParaRPr sz="22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250">
              <a:latin typeface="Book Antiqua"/>
              <a:cs typeface="Book Antiqua"/>
            </a:endParaRPr>
          </a:p>
          <a:p>
            <a:pPr marL="889635">
              <a:lnSpc>
                <a:spcPct val="100000"/>
              </a:lnSpc>
              <a:tabLst>
                <a:tab pos="5216525" algn="l"/>
              </a:tabLst>
            </a:pPr>
            <a:r>
              <a:rPr sz="2550" b="1" dirty="0">
                <a:solidFill>
                  <a:srgbClr val="731B9E"/>
                </a:solidFill>
                <a:latin typeface="Book Antiqua"/>
                <a:cs typeface="Book Antiqua"/>
              </a:rPr>
              <a:t>Dr.</a:t>
            </a:r>
            <a:r>
              <a:rPr sz="2550" b="1" spc="204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2550" b="1" dirty="0">
                <a:solidFill>
                  <a:srgbClr val="731B9E"/>
                </a:solidFill>
                <a:latin typeface="Book Antiqua"/>
                <a:cs typeface="Book Antiqua"/>
              </a:rPr>
              <a:t>Mohammed</a:t>
            </a:r>
            <a:r>
              <a:rPr sz="2550" b="1" spc="204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2550" b="1" spc="-10" dirty="0">
                <a:solidFill>
                  <a:srgbClr val="731B9E"/>
                </a:solidFill>
                <a:latin typeface="Book Antiqua"/>
                <a:cs typeface="Book Antiqua"/>
              </a:rPr>
              <a:t>Alchaita</a:t>
            </a:r>
            <a:r>
              <a:rPr sz="2550" b="1" dirty="0">
                <a:solidFill>
                  <a:srgbClr val="731B9E"/>
                </a:solidFill>
                <a:latin typeface="Book Antiqua"/>
                <a:cs typeface="Book Antiqua"/>
              </a:rPr>
              <a:t>	Eng.Ahmad</a:t>
            </a:r>
            <a:r>
              <a:rPr sz="2550" b="1" spc="130" dirty="0">
                <a:solidFill>
                  <a:srgbClr val="731B9E"/>
                </a:solidFill>
                <a:latin typeface="Book Antiqua"/>
                <a:cs typeface="Book Antiqua"/>
              </a:rPr>
              <a:t> </a:t>
            </a:r>
            <a:r>
              <a:rPr sz="2550" b="1" spc="-10" dirty="0">
                <a:solidFill>
                  <a:srgbClr val="731B9E"/>
                </a:solidFill>
                <a:latin typeface="Book Antiqua"/>
                <a:cs typeface="Book Antiqua"/>
              </a:rPr>
              <a:t>Shekha</a:t>
            </a:r>
            <a:endParaRPr sz="255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84317" y="5376071"/>
            <a:ext cx="3191510" cy="7874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sz="2000" b="1" spc="100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</a:t>
            </a:r>
            <a:r>
              <a:rPr sz="2000" b="1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Graduation</a:t>
            </a:r>
            <a:r>
              <a:rPr sz="2000" b="1" spc="150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60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2000" b="1" spc="155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409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64135" algn="ctr">
              <a:lnSpc>
                <a:spcPct val="100000"/>
              </a:lnSpc>
              <a:spcBef>
                <a:spcPts val="600"/>
              </a:spcBef>
            </a:pPr>
            <a:r>
              <a:rPr sz="2000" b="1" spc="165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r>
              <a:rPr sz="2000" b="1" spc="35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75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000" b="1" spc="40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114" dirty="0">
                <a:solidFill>
                  <a:srgbClr val="731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2027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10041255"/>
            </a:xfrm>
            <a:custGeom>
              <a:avLst/>
              <a:gdLst/>
              <a:ahLst/>
              <a:cxnLst/>
              <a:rect l="l" t="t" r="r" b="b"/>
              <a:pathLst>
                <a:path w="18288000" h="10041255">
                  <a:moveTo>
                    <a:pt x="0" y="10040789"/>
                  </a:moveTo>
                  <a:lnTo>
                    <a:pt x="18287998" y="10040789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10040789"/>
                  </a:lnTo>
                  <a:close/>
                </a:path>
              </a:pathLst>
            </a:custGeom>
            <a:solidFill>
              <a:srgbClr val="F5F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040788"/>
              <a:ext cx="18287999" cy="24621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7973" y="2499768"/>
              <a:ext cx="9858374" cy="775334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64260">
              <a:lnSpc>
                <a:spcPct val="100000"/>
              </a:lnSpc>
              <a:spcBef>
                <a:spcPts val="125"/>
              </a:spcBef>
            </a:pPr>
            <a:r>
              <a:rPr sz="3700" spc="430" dirty="0">
                <a:solidFill>
                  <a:srgbClr val="731B9E"/>
                </a:solidFill>
              </a:rPr>
              <a:t>Fundamental</a:t>
            </a:r>
            <a:r>
              <a:rPr sz="3700" spc="70" dirty="0">
                <a:solidFill>
                  <a:srgbClr val="731B9E"/>
                </a:solidFill>
              </a:rPr>
              <a:t> </a:t>
            </a:r>
            <a:r>
              <a:rPr sz="3700" spc="409" dirty="0">
                <a:solidFill>
                  <a:srgbClr val="731B9E"/>
                </a:solidFill>
              </a:rPr>
              <a:t>Concepts</a:t>
            </a:r>
            <a:r>
              <a:rPr sz="3700" spc="75" dirty="0">
                <a:solidFill>
                  <a:srgbClr val="731B9E"/>
                </a:solidFill>
              </a:rPr>
              <a:t> </a:t>
            </a:r>
            <a:r>
              <a:rPr sz="3700" dirty="0">
                <a:solidFill>
                  <a:srgbClr val="731B9E"/>
                </a:solidFill>
              </a:rPr>
              <a:t>&amp;</a:t>
            </a:r>
            <a:r>
              <a:rPr sz="3700" spc="75" dirty="0">
                <a:solidFill>
                  <a:srgbClr val="731B9E"/>
                </a:solidFill>
              </a:rPr>
              <a:t> </a:t>
            </a:r>
            <a:r>
              <a:rPr sz="3700" spc="365" dirty="0">
                <a:solidFill>
                  <a:srgbClr val="731B9E"/>
                </a:solidFill>
              </a:rPr>
              <a:t>Architecture</a:t>
            </a:r>
            <a:r>
              <a:rPr sz="3700" spc="75" dirty="0">
                <a:solidFill>
                  <a:srgbClr val="731B9E"/>
                </a:solidFill>
              </a:rPr>
              <a:t> </a:t>
            </a:r>
            <a:r>
              <a:rPr sz="3700" spc="-50" dirty="0">
                <a:solidFill>
                  <a:srgbClr val="731B9E"/>
                </a:solidFill>
              </a:rPr>
              <a:t>:</a:t>
            </a:r>
            <a:endParaRPr sz="3700"/>
          </a:p>
        </p:txBody>
      </p:sp>
      <p:grpSp>
        <p:nvGrpSpPr>
          <p:cNvPr id="7" name="object 7"/>
          <p:cNvGrpSpPr/>
          <p:nvPr/>
        </p:nvGrpSpPr>
        <p:grpSpPr>
          <a:xfrm>
            <a:off x="2634614" y="4738687"/>
            <a:ext cx="5598160" cy="4963795"/>
            <a:chOff x="2634614" y="4738687"/>
            <a:chExt cx="5598160" cy="496379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3638" y="4738687"/>
              <a:ext cx="788655" cy="8940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4614" y="6133464"/>
              <a:ext cx="4335705" cy="35687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583814" y="2905666"/>
            <a:ext cx="5238115" cy="59563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0"/>
              </a:spcBef>
            </a:pPr>
            <a:r>
              <a:rPr sz="3100" b="1" spc="-50" dirty="0">
                <a:solidFill>
                  <a:srgbClr val="3D0961"/>
                </a:solidFill>
                <a:latin typeface="Tahoma"/>
                <a:cs typeface="Tahoma"/>
              </a:rPr>
              <a:t>Central</a:t>
            </a:r>
            <a:r>
              <a:rPr sz="3100" b="1" spc="-175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3100" b="1" spc="-10" dirty="0">
                <a:solidFill>
                  <a:srgbClr val="3D0961"/>
                </a:solidFill>
                <a:latin typeface="Tahoma"/>
                <a:cs typeface="Tahoma"/>
              </a:rPr>
              <a:t>Server</a:t>
            </a:r>
            <a:endParaRPr sz="3100">
              <a:latin typeface="Tahoma"/>
              <a:cs typeface="Tahoma"/>
            </a:endParaRPr>
          </a:p>
          <a:p>
            <a:pPr marL="67310">
              <a:lnSpc>
                <a:spcPct val="100000"/>
              </a:lnSpc>
              <a:spcBef>
                <a:spcPts val="2695"/>
              </a:spcBef>
            </a:pPr>
            <a:r>
              <a:rPr sz="2000" b="1" dirty="0">
                <a:solidFill>
                  <a:srgbClr val="59708B"/>
                </a:solidFill>
                <a:latin typeface="Tahoma"/>
                <a:cs typeface="Tahoma"/>
              </a:rPr>
              <a:t>Aggregates</a:t>
            </a:r>
            <a:r>
              <a:rPr sz="2000" b="1" spc="-11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59708B"/>
                </a:solidFill>
                <a:latin typeface="Tahoma"/>
                <a:cs typeface="Tahoma"/>
              </a:rPr>
              <a:t>the</a:t>
            </a:r>
            <a:r>
              <a:rPr sz="2000" b="1" spc="-105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35" dirty="0">
                <a:solidFill>
                  <a:srgbClr val="59708B"/>
                </a:solidFill>
                <a:latin typeface="Tahoma"/>
                <a:cs typeface="Tahoma"/>
              </a:rPr>
              <a:t>global</a:t>
            </a:r>
            <a:r>
              <a:rPr sz="2000" b="1" spc="-105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rgbClr val="59708B"/>
                </a:solidFill>
                <a:latin typeface="Tahoma"/>
                <a:cs typeface="Tahoma"/>
              </a:rPr>
              <a:t>model</a:t>
            </a:r>
            <a:r>
              <a:rPr sz="2000" b="1" spc="-105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59708B"/>
                </a:solidFill>
                <a:latin typeface="Tahoma"/>
                <a:cs typeface="Tahoma"/>
              </a:rPr>
              <a:t>updates.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000">
              <a:latin typeface="Tahoma"/>
              <a:cs typeface="Tahoma"/>
            </a:endParaRPr>
          </a:p>
          <a:p>
            <a:pPr marL="67310">
              <a:lnSpc>
                <a:spcPct val="100000"/>
              </a:lnSpc>
            </a:pPr>
            <a:r>
              <a:rPr sz="2900" b="1" spc="-45" dirty="0">
                <a:solidFill>
                  <a:srgbClr val="3D0961"/>
                </a:solidFill>
                <a:latin typeface="Tahoma"/>
                <a:cs typeface="Tahoma"/>
              </a:rPr>
              <a:t>Edge</a:t>
            </a:r>
            <a:r>
              <a:rPr sz="2900" b="1" spc="-145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2900" b="1" spc="-10" dirty="0">
                <a:solidFill>
                  <a:srgbClr val="3D0961"/>
                </a:solidFill>
                <a:latin typeface="Tahoma"/>
                <a:cs typeface="Tahoma"/>
              </a:rPr>
              <a:t>Nodes</a:t>
            </a:r>
            <a:endParaRPr sz="2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sz="2000" b="1" spc="-45" dirty="0">
                <a:solidFill>
                  <a:srgbClr val="59708B"/>
                </a:solidFill>
                <a:latin typeface="Tahoma"/>
                <a:cs typeface="Tahoma"/>
              </a:rPr>
              <a:t>Distributed</a:t>
            </a:r>
            <a:r>
              <a:rPr sz="2000" b="1" spc="-10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59708B"/>
                </a:solidFill>
                <a:latin typeface="Tahoma"/>
                <a:cs typeface="Tahoma"/>
              </a:rPr>
              <a:t>clients</a:t>
            </a:r>
            <a:r>
              <a:rPr sz="2000" b="1" spc="-10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rgbClr val="59708B"/>
                </a:solidFill>
                <a:latin typeface="Tahoma"/>
                <a:cs typeface="Tahoma"/>
              </a:rPr>
              <a:t>training</a:t>
            </a:r>
            <a:r>
              <a:rPr sz="2000" b="1" spc="-10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59708B"/>
                </a:solidFill>
                <a:latin typeface="Tahoma"/>
                <a:cs typeface="Tahoma"/>
              </a:rPr>
              <a:t>models</a:t>
            </a:r>
            <a:r>
              <a:rPr sz="2000" b="1" spc="-10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59708B"/>
                </a:solidFill>
                <a:latin typeface="Tahoma"/>
                <a:cs typeface="Tahoma"/>
              </a:rPr>
              <a:t>locally.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000">
              <a:latin typeface="Tahoma"/>
              <a:cs typeface="Tahoma"/>
            </a:endParaRPr>
          </a:p>
          <a:p>
            <a:pPr marL="67310">
              <a:lnSpc>
                <a:spcPct val="100000"/>
              </a:lnSpc>
            </a:pPr>
            <a:r>
              <a:rPr sz="2700" b="1" spc="-35" dirty="0">
                <a:solidFill>
                  <a:srgbClr val="3D0961"/>
                </a:solidFill>
                <a:latin typeface="Tahoma"/>
                <a:cs typeface="Tahoma"/>
              </a:rPr>
              <a:t>Weights</a:t>
            </a:r>
            <a:r>
              <a:rPr sz="2700" b="1" spc="-145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2700" b="1" spc="-10" dirty="0">
                <a:solidFill>
                  <a:srgbClr val="3D0961"/>
                </a:solidFill>
                <a:latin typeface="Tahoma"/>
                <a:cs typeface="Tahoma"/>
              </a:rPr>
              <a:t>Exchange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000" b="1" spc="-25" dirty="0">
                <a:solidFill>
                  <a:srgbClr val="59708B"/>
                </a:solidFill>
                <a:latin typeface="Tahoma"/>
                <a:cs typeface="Tahoma"/>
              </a:rPr>
              <a:t>Sharing</a:t>
            </a:r>
            <a:r>
              <a:rPr sz="2000" b="1" spc="-105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59708B"/>
                </a:solidFill>
                <a:latin typeface="Tahoma"/>
                <a:cs typeface="Tahoma"/>
              </a:rPr>
              <a:t>parameters,</a:t>
            </a:r>
            <a:r>
              <a:rPr sz="2000" b="1" spc="-105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59708B"/>
                </a:solidFill>
                <a:latin typeface="Tahoma"/>
                <a:cs typeface="Tahoma"/>
              </a:rPr>
              <a:t>keeping</a:t>
            </a:r>
            <a:r>
              <a:rPr sz="2000" b="1" spc="-10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59708B"/>
                </a:solidFill>
                <a:latin typeface="Tahoma"/>
                <a:cs typeface="Tahoma"/>
              </a:rPr>
              <a:t>data</a:t>
            </a:r>
            <a:r>
              <a:rPr sz="2000" b="1" spc="-105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59708B"/>
                </a:solidFill>
                <a:latin typeface="Tahoma"/>
                <a:cs typeface="Tahoma"/>
              </a:rPr>
              <a:t>local.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2000">
              <a:latin typeface="Tahoma"/>
              <a:cs typeface="Tahoma"/>
            </a:endParaRPr>
          </a:p>
          <a:p>
            <a:pPr marL="67310">
              <a:lnSpc>
                <a:spcPct val="100000"/>
              </a:lnSpc>
            </a:pPr>
            <a:r>
              <a:rPr sz="2700" b="1" dirty="0">
                <a:solidFill>
                  <a:srgbClr val="3D0961"/>
                </a:solidFill>
                <a:latin typeface="Tahoma"/>
                <a:cs typeface="Tahoma"/>
              </a:rPr>
              <a:t>The</a:t>
            </a:r>
            <a:r>
              <a:rPr sz="2700" b="1" spc="-135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2700" b="1" spc="-30" dirty="0">
                <a:solidFill>
                  <a:srgbClr val="3D0961"/>
                </a:solidFill>
                <a:latin typeface="Tahoma"/>
                <a:cs typeface="Tahoma"/>
              </a:rPr>
              <a:t>"Blind"</a:t>
            </a:r>
            <a:r>
              <a:rPr sz="2700" b="1" spc="-130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2700" b="1" spc="-10" dirty="0">
                <a:solidFill>
                  <a:srgbClr val="3D0961"/>
                </a:solidFill>
                <a:latin typeface="Tahoma"/>
                <a:cs typeface="Tahoma"/>
              </a:rPr>
              <a:t>Server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000" b="1" dirty="0">
                <a:solidFill>
                  <a:srgbClr val="59708B"/>
                </a:solidFill>
                <a:latin typeface="Tahoma"/>
                <a:cs typeface="Tahoma"/>
              </a:rPr>
              <a:t>Receives</a:t>
            </a:r>
            <a:r>
              <a:rPr sz="2000" b="1" spc="-13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59708B"/>
                </a:solidFill>
                <a:latin typeface="Tahoma"/>
                <a:cs typeface="Tahoma"/>
              </a:rPr>
              <a:t>updates,</a:t>
            </a:r>
            <a:r>
              <a:rPr sz="2000" b="1" spc="-12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59708B"/>
                </a:solidFill>
                <a:latin typeface="Tahoma"/>
                <a:cs typeface="Tahoma"/>
              </a:rPr>
              <a:t>never</a:t>
            </a:r>
            <a:r>
              <a:rPr sz="2000" b="1" spc="-125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65" dirty="0">
                <a:solidFill>
                  <a:srgbClr val="59708B"/>
                </a:solidFill>
                <a:latin typeface="Tahoma"/>
                <a:cs typeface="Tahoma"/>
              </a:rPr>
              <a:t>raw</a:t>
            </a:r>
            <a:r>
              <a:rPr sz="2000" b="1" spc="-120" dirty="0">
                <a:solidFill>
                  <a:srgbClr val="59708B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59708B"/>
                </a:solidFill>
                <a:latin typeface="Tahoma"/>
                <a:cs typeface="Tahoma"/>
              </a:rPr>
              <a:t>data.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034838" y="8605352"/>
            <a:ext cx="4489450" cy="953769"/>
          </a:xfrm>
          <a:custGeom>
            <a:avLst/>
            <a:gdLst/>
            <a:ahLst/>
            <a:cxnLst/>
            <a:rect l="l" t="t" r="r" b="b"/>
            <a:pathLst>
              <a:path w="4489450" h="953770">
                <a:moveTo>
                  <a:pt x="3402477" y="1270"/>
                </a:moveTo>
                <a:lnTo>
                  <a:pt x="3190870" y="1270"/>
                </a:lnTo>
                <a:lnTo>
                  <a:pt x="3245573" y="0"/>
                </a:lnTo>
                <a:lnTo>
                  <a:pt x="3351664" y="0"/>
                </a:lnTo>
                <a:lnTo>
                  <a:pt x="3402477" y="1270"/>
                </a:lnTo>
                <a:close/>
              </a:path>
              <a:path w="4489450" h="953770">
                <a:moveTo>
                  <a:pt x="546045" y="953770"/>
                </a:moveTo>
                <a:lnTo>
                  <a:pt x="443601" y="953770"/>
                </a:lnTo>
                <a:lnTo>
                  <a:pt x="400449" y="952500"/>
                </a:lnTo>
                <a:lnTo>
                  <a:pt x="361823" y="949960"/>
                </a:lnTo>
                <a:lnTo>
                  <a:pt x="337029" y="947420"/>
                </a:lnTo>
                <a:lnTo>
                  <a:pt x="315627" y="946150"/>
                </a:lnTo>
                <a:lnTo>
                  <a:pt x="275146" y="939800"/>
                </a:lnTo>
                <a:lnTo>
                  <a:pt x="233593" y="925830"/>
                </a:lnTo>
                <a:lnTo>
                  <a:pt x="194183" y="908050"/>
                </a:lnTo>
                <a:lnTo>
                  <a:pt x="156560" y="885190"/>
                </a:lnTo>
                <a:lnTo>
                  <a:pt x="121793" y="858520"/>
                </a:lnTo>
                <a:lnTo>
                  <a:pt x="91313" y="826770"/>
                </a:lnTo>
                <a:lnTo>
                  <a:pt x="63691" y="792480"/>
                </a:lnTo>
                <a:lnTo>
                  <a:pt x="41545" y="755650"/>
                </a:lnTo>
                <a:lnTo>
                  <a:pt x="23686" y="715010"/>
                </a:lnTo>
                <a:lnTo>
                  <a:pt x="10708" y="674370"/>
                </a:lnTo>
                <a:lnTo>
                  <a:pt x="2731" y="631190"/>
                </a:lnTo>
                <a:lnTo>
                  <a:pt x="0" y="591820"/>
                </a:lnTo>
                <a:lnTo>
                  <a:pt x="97" y="580390"/>
                </a:lnTo>
                <a:lnTo>
                  <a:pt x="6139" y="521970"/>
                </a:lnTo>
                <a:lnTo>
                  <a:pt x="16527" y="480060"/>
                </a:lnTo>
                <a:lnTo>
                  <a:pt x="32080" y="439420"/>
                </a:lnTo>
                <a:lnTo>
                  <a:pt x="52082" y="400050"/>
                </a:lnTo>
                <a:lnTo>
                  <a:pt x="77056" y="364490"/>
                </a:lnTo>
                <a:lnTo>
                  <a:pt x="106286" y="331470"/>
                </a:lnTo>
                <a:lnTo>
                  <a:pt x="138730" y="302260"/>
                </a:lnTo>
                <a:lnTo>
                  <a:pt x="175104" y="278130"/>
                </a:lnTo>
                <a:lnTo>
                  <a:pt x="213397" y="257810"/>
                </a:lnTo>
                <a:lnTo>
                  <a:pt x="275146" y="236220"/>
                </a:lnTo>
                <a:lnTo>
                  <a:pt x="329200" y="228600"/>
                </a:lnTo>
                <a:lnTo>
                  <a:pt x="352298" y="226060"/>
                </a:lnTo>
                <a:lnTo>
                  <a:pt x="361823" y="226060"/>
                </a:lnTo>
                <a:lnTo>
                  <a:pt x="486709" y="218440"/>
                </a:lnTo>
                <a:lnTo>
                  <a:pt x="606753" y="208280"/>
                </a:lnTo>
                <a:lnTo>
                  <a:pt x="664823" y="201930"/>
                </a:lnTo>
                <a:lnTo>
                  <a:pt x="721517" y="194310"/>
                </a:lnTo>
                <a:lnTo>
                  <a:pt x="776781" y="187960"/>
                </a:lnTo>
                <a:lnTo>
                  <a:pt x="882799" y="172720"/>
                </a:lnTo>
                <a:lnTo>
                  <a:pt x="933800" y="163774"/>
                </a:lnTo>
                <a:lnTo>
                  <a:pt x="982436" y="156210"/>
                </a:lnTo>
                <a:lnTo>
                  <a:pt x="1029724" y="147320"/>
                </a:lnTo>
                <a:lnTo>
                  <a:pt x="1118965" y="132080"/>
                </a:lnTo>
                <a:lnTo>
                  <a:pt x="1200724" y="116840"/>
                </a:lnTo>
                <a:lnTo>
                  <a:pt x="1274563" y="104140"/>
                </a:lnTo>
                <a:lnTo>
                  <a:pt x="1308375" y="99060"/>
                </a:lnTo>
                <a:lnTo>
                  <a:pt x="1340041" y="93980"/>
                </a:lnTo>
                <a:lnTo>
                  <a:pt x="1556177" y="66040"/>
                </a:lnTo>
                <a:lnTo>
                  <a:pt x="1606004" y="62230"/>
                </a:lnTo>
                <a:lnTo>
                  <a:pt x="1656448" y="57150"/>
                </a:lnTo>
                <a:lnTo>
                  <a:pt x="1708658" y="53340"/>
                </a:lnTo>
                <a:lnTo>
                  <a:pt x="1757126" y="50800"/>
                </a:lnTo>
                <a:lnTo>
                  <a:pt x="1806006" y="49530"/>
                </a:lnTo>
                <a:lnTo>
                  <a:pt x="2003204" y="49530"/>
                </a:lnTo>
                <a:lnTo>
                  <a:pt x="2101089" y="46990"/>
                </a:lnTo>
                <a:lnTo>
                  <a:pt x="2204069" y="39370"/>
                </a:lnTo>
                <a:lnTo>
                  <a:pt x="2253494" y="34290"/>
                </a:lnTo>
                <a:lnTo>
                  <a:pt x="2303984" y="30480"/>
                </a:lnTo>
                <a:lnTo>
                  <a:pt x="2357374" y="25400"/>
                </a:lnTo>
                <a:lnTo>
                  <a:pt x="2518806" y="15240"/>
                </a:lnTo>
                <a:lnTo>
                  <a:pt x="2700605" y="10160"/>
                </a:lnTo>
                <a:lnTo>
                  <a:pt x="2751443" y="7620"/>
                </a:lnTo>
                <a:lnTo>
                  <a:pt x="2857573" y="5080"/>
                </a:lnTo>
                <a:lnTo>
                  <a:pt x="2912289" y="5080"/>
                </a:lnTo>
                <a:lnTo>
                  <a:pt x="3079588" y="1270"/>
                </a:lnTo>
                <a:lnTo>
                  <a:pt x="3451418" y="1270"/>
                </a:lnTo>
                <a:lnTo>
                  <a:pt x="3584130" y="5080"/>
                </a:lnTo>
                <a:lnTo>
                  <a:pt x="3642821" y="7620"/>
                </a:lnTo>
                <a:lnTo>
                  <a:pt x="3810551" y="19050"/>
                </a:lnTo>
                <a:lnTo>
                  <a:pt x="3958324" y="34290"/>
                </a:lnTo>
                <a:lnTo>
                  <a:pt x="4001493" y="38100"/>
                </a:lnTo>
                <a:lnTo>
                  <a:pt x="4041027" y="43180"/>
                </a:lnTo>
                <a:lnTo>
                  <a:pt x="4067686" y="46990"/>
                </a:lnTo>
                <a:lnTo>
                  <a:pt x="4065113" y="46990"/>
                </a:lnTo>
                <a:lnTo>
                  <a:pt x="4031805" y="49530"/>
                </a:lnTo>
                <a:lnTo>
                  <a:pt x="3966083" y="62230"/>
                </a:lnTo>
                <a:lnTo>
                  <a:pt x="3903218" y="85090"/>
                </a:lnTo>
                <a:lnTo>
                  <a:pt x="3844639" y="118110"/>
                </a:lnTo>
                <a:lnTo>
                  <a:pt x="3791775" y="160020"/>
                </a:lnTo>
                <a:lnTo>
                  <a:pt x="3746651" y="209550"/>
                </a:lnTo>
                <a:lnTo>
                  <a:pt x="3710813" y="265430"/>
                </a:lnTo>
                <a:lnTo>
                  <a:pt x="3683905" y="327660"/>
                </a:lnTo>
                <a:lnTo>
                  <a:pt x="3667001" y="392414"/>
                </a:lnTo>
                <a:lnTo>
                  <a:pt x="3661640" y="459740"/>
                </a:lnTo>
                <a:lnTo>
                  <a:pt x="3662845" y="494030"/>
                </a:lnTo>
                <a:lnTo>
                  <a:pt x="3673546" y="560070"/>
                </a:lnTo>
                <a:lnTo>
                  <a:pt x="3694858" y="623570"/>
                </a:lnTo>
                <a:lnTo>
                  <a:pt x="3725844" y="681990"/>
                </a:lnTo>
                <a:lnTo>
                  <a:pt x="3766504" y="736600"/>
                </a:lnTo>
                <a:lnTo>
                  <a:pt x="3814769" y="782320"/>
                </a:lnTo>
                <a:lnTo>
                  <a:pt x="3852164" y="808990"/>
                </a:lnTo>
                <a:lnTo>
                  <a:pt x="2892782" y="808990"/>
                </a:lnTo>
                <a:lnTo>
                  <a:pt x="2838601" y="810260"/>
                </a:lnTo>
                <a:lnTo>
                  <a:pt x="2735816" y="810260"/>
                </a:lnTo>
                <a:lnTo>
                  <a:pt x="2687894" y="811530"/>
                </a:lnTo>
                <a:lnTo>
                  <a:pt x="2600694" y="811530"/>
                </a:lnTo>
                <a:lnTo>
                  <a:pt x="2562098" y="812800"/>
                </a:lnTo>
                <a:lnTo>
                  <a:pt x="2501030" y="814070"/>
                </a:lnTo>
                <a:lnTo>
                  <a:pt x="2446427" y="816610"/>
                </a:lnTo>
                <a:lnTo>
                  <a:pt x="2349349" y="824230"/>
                </a:lnTo>
                <a:lnTo>
                  <a:pt x="2326296" y="825500"/>
                </a:lnTo>
                <a:lnTo>
                  <a:pt x="1692440" y="825500"/>
                </a:lnTo>
                <a:lnTo>
                  <a:pt x="1593381" y="828040"/>
                </a:lnTo>
                <a:lnTo>
                  <a:pt x="1539186" y="830580"/>
                </a:lnTo>
                <a:lnTo>
                  <a:pt x="1480059" y="834390"/>
                </a:lnTo>
                <a:lnTo>
                  <a:pt x="1437735" y="838200"/>
                </a:lnTo>
                <a:lnTo>
                  <a:pt x="1391481" y="843280"/>
                </a:lnTo>
                <a:lnTo>
                  <a:pt x="1341857" y="849630"/>
                </a:lnTo>
                <a:lnTo>
                  <a:pt x="1178362" y="872490"/>
                </a:lnTo>
                <a:lnTo>
                  <a:pt x="890693" y="916940"/>
                </a:lnTo>
                <a:lnTo>
                  <a:pt x="783370" y="932180"/>
                </a:lnTo>
                <a:lnTo>
                  <a:pt x="733605" y="938530"/>
                </a:lnTo>
                <a:lnTo>
                  <a:pt x="687185" y="943610"/>
                </a:lnTo>
                <a:lnTo>
                  <a:pt x="644669" y="947420"/>
                </a:lnTo>
                <a:lnTo>
                  <a:pt x="606616" y="951230"/>
                </a:lnTo>
                <a:lnTo>
                  <a:pt x="546045" y="953770"/>
                </a:lnTo>
                <a:close/>
              </a:path>
              <a:path w="4489450" h="953770">
                <a:moveTo>
                  <a:pt x="4073715" y="875030"/>
                </a:moveTo>
                <a:lnTo>
                  <a:pt x="4028948" y="872490"/>
                </a:lnTo>
                <a:lnTo>
                  <a:pt x="3963225" y="859790"/>
                </a:lnTo>
                <a:lnTo>
                  <a:pt x="3900360" y="836930"/>
                </a:lnTo>
                <a:lnTo>
                  <a:pt x="3841901" y="802640"/>
                </a:lnTo>
                <a:lnTo>
                  <a:pt x="3789870" y="760730"/>
                </a:lnTo>
                <a:lnTo>
                  <a:pt x="3745103" y="711200"/>
                </a:lnTo>
                <a:lnTo>
                  <a:pt x="3708908" y="654050"/>
                </a:lnTo>
                <a:lnTo>
                  <a:pt x="3682952" y="591820"/>
                </a:lnTo>
                <a:lnTo>
                  <a:pt x="3666998" y="527050"/>
                </a:lnTo>
                <a:lnTo>
                  <a:pt x="3661640" y="459740"/>
                </a:lnTo>
                <a:lnTo>
                  <a:pt x="3663113" y="425450"/>
                </a:lnTo>
                <a:lnTo>
                  <a:pt x="3674112" y="360680"/>
                </a:lnTo>
                <a:lnTo>
                  <a:pt x="3696198" y="295910"/>
                </a:lnTo>
                <a:lnTo>
                  <a:pt x="3727348" y="237490"/>
                </a:lnTo>
                <a:lnTo>
                  <a:pt x="3768275" y="184150"/>
                </a:lnTo>
                <a:lnTo>
                  <a:pt x="3817225" y="138430"/>
                </a:lnTo>
                <a:lnTo>
                  <a:pt x="3873634" y="100251"/>
                </a:lnTo>
                <a:lnTo>
                  <a:pt x="3934025" y="72390"/>
                </a:lnTo>
                <a:lnTo>
                  <a:pt x="3998855" y="54610"/>
                </a:lnTo>
                <a:lnTo>
                  <a:pt x="4065113" y="46990"/>
                </a:lnTo>
                <a:lnTo>
                  <a:pt x="4068603" y="46990"/>
                </a:lnTo>
                <a:lnTo>
                  <a:pt x="4076573" y="48260"/>
                </a:lnTo>
                <a:lnTo>
                  <a:pt x="4115878" y="52070"/>
                </a:lnTo>
                <a:lnTo>
                  <a:pt x="4148844" y="55880"/>
                </a:lnTo>
                <a:lnTo>
                  <a:pt x="4178773" y="60960"/>
                </a:lnTo>
                <a:lnTo>
                  <a:pt x="4207633" y="68580"/>
                </a:lnTo>
                <a:lnTo>
                  <a:pt x="4208970" y="69850"/>
                </a:lnTo>
                <a:lnTo>
                  <a:pt x="4216092" y="71940"/>
                </a:lnTo>
                <a:lnTo>
                  <a:pt x="4230014" y="77470"/>
                </a:lnTo>
                <a:lnTo>
                  <a:pt x="4259055" y="90170"/>
                </a:lnTo>
                <a:lnTo>
                  <a:pt x="4260540" y="91440"/>
                </a:lnTo>
                <a:lnTo>
                  <a:pt x="4261708" y="91440"/>
                </a:lnTo>
                <a:lnTo>
                  <a:pt x="4317895" y="124460"/>
                </a:lnTo>
                <a:lnTo>
                  <a:pt x="4319396" y="125730"/>
                </a:lnTo>
                <a:lnTo>
                  <a:pt x="4318197" y="125730"/>
                </a:lnTo>
                <a:lnTo>
                  <a:pt x="4344464" y="147320"/>
                </a:lnTo>
                <a:lnTo>
                  <a:pt x="4358222" y="160020"/>
                </a:lnTo>
                <a:lnTo>
                  <a:pt x="4361418" y="162864"/>
                </a:lnTo>
                <a:lnTo>
                  <a:pt x="4362296" y="163774"/>
                </a:lnTo>
                <a:lnTo>
                  <a:pt x="4396733" y="200664"/>
                </a:lnTo>
                <a:lnTo>
                  <a:pt x="4397705" y="201930"/>
                </a:lnTo>
                <a:lnTo>
                  <a:pt x="4397859" y="201930"/>
                </a:lnTo>
                <a:lnTo>
                  <a:pt x="4398990" y="203200"/>
                </a:lnTo>
                <a:lnTo>
                  <a:pt x="4400661" y="205589"/>
                </a:lnTo>
                <a:lnTo>
                  <a:pt x="4402287" y="208280"/>
                </a:lnTo>
                <a:lnTo>
                  <a:pt x="4418520" y="231140"/>
                </a:lnTo>
                <a:lnTo>
                  <a:pt x="4433669" y="254405"/>
                </a:lnTo>
                <a:lnTo>
                  <a:pt x="4435460" y="257810"/>
                </a:lnTo>
                <a:lnTo>
                  <a:pt x="4435886" y="257810"/>
                </a:lnTo>
                <a:lnTo>
                  <a:pt x="4436713" y="259080"/>
                </a:lnTo>
                <a:lnTo>
                  <a:pt x="4437332" y="260350"/>
                </a:lnTo>
                <a:lnTo>
                  <a:pt x="4436967" y="260350"/>
                </a:lnTo>
                <a:lnTo>
                  <a:pt x="4439302" y="265430"/>
                </a:lnTo>
                <a:lnTo>
                  <a:pt x="4451262" y="289560"/>
                </a:lnTo>
                <a:lnTo>
                  <a:pt x="4451555" y="289560"/>
                </a:lnTo>
                <a:lnTo>
                  <a:pt x="4452174" y="290830"/>
                </a:lnTo>
                <a:lnTo>
                  <a:pt x="4452915" y="292625"/>
                </a:lnTo>
                <a:lnTo>
                  <a:pt x="4454074" y="295910"/>
                </a:lnTo>
                <a:lnTo>
                  <a:pt x="4462647" y="316210"/>
                </a:lnTo>
                <a:lnTo>
                  <a:pt x="4467838" y="331470"/>
                </a:lnTo>
                <a:lnTo>
                  <a:pt x="4471051" y="339606"/>
                </a:lnTo>
                <a:lnTo>
                  <a:pt x="4471323" y="340362"/>
                </a:lnTo>
                <a:lnTo>
                  <a:pt x="4471401" y="340561"/>
                </a:lnTo>
                <a:lnTo>
                  <a:pt x="4478329" y="367030"/>
                </a:lnTo>
                <a:lnTo>
                  <a:pt x="4480494" y="377190"/>
                </a:lnTo>
                <a:lnTo>
                  <a:pt x="4481683" y="384810"/>
                </a:lnTo>
                <a:lnTo>
                  <a:pt x="4482740" y="390439"/>
                </a:lnTo>
                <a:lnTo>
                  <a:pt x="4482991" y="392414"/>
                </a:lnTo>
                <a:lnTo>
                  <a:pt x="4483932" y="398152"/>
                </a:lnTo>
                <a:lnTo>
                  <a:pt x="4484055" y="398908"/>
                </a:lnTo>
                <a:lnTo>
                  <a:pt x="4486436" y="415290"/>
                </a:lnTo>
                <a:lnTo>
                  <a:pt x="4486657" y="417830"/>
                </a:lnTo>
                <a:lnTo>
                  <a:pt x="4486818" y="419098"/>
                </a:lnTo>
                <a:lnTo>
                  <a:pt x="4486919" y="420089"/>
                </a:lnTo>
                <a:lnTo>
                  <a:pt x="4488782" y="452120"/>
                </a:lnTo>
                <a:lnTo>
                  <a:pt x="4488132" y="480060"/>
                </a:lnTo>
                <a:lnTo>
                  <a:pt x="4488014" y="485142"/>
                </a:lnTo>
                <a:lnTo>
                  <a:pt x="4482686" y="530860"/>
                </a:lnTo>
                <a:lnTo>
                  <a:pt x="4471377" y="580390"/>
                </a:lnTo>
                <a:lnTo>
                  <a:pt x="4449834" y="636270"/>
                </a:lnTo>
                <a:lnTo>
                  <a:pt x="4421689" y="685800"/>
                </a:lnTo>
                <a:lnTo>
                  <a:pt x="4397804" y="719901"/>
                </a:lnTo>
                <a:lnTo>
                  <a:pt x="4350044" y="770890"/>
                </a:lnTo>
                <a:lnTo>
                  <a:pt x="4296794" y="810260"/>
                </a:lnTo>
                <a:lnTo>
                  <a:pt x="4276894" y="821690"/>
                </a:lnTo>
                <a:lnTo>
                  <a:pt x="4264217" y="829310"/>
                </a:lnTo>
                <a:lnTo>
                  <a:pt x="4243866" y="838200"/>
                </a:lnTo>
                <a:lnTo>
                  <a:pt x="4230544" y="843280"/>
                </a:lnTo>
                <a:lnTo>
                  <a:pt x="4207960" y="852170"/>
                </a:lnTo>
                <a:lnTo>
                  <a:pt x="4208981" y="852170"/>
                </a:lnTo>
                <a:lnTo>
                  <a:pt x="4205900" y="853440"/>
                </a:lnTo>
                <a:lnTo>
                  <a:pt x="4175648" y="862330"/>
                </a:lnTo>
                <a:lnTo>
                  <a:pt x="4129943" y="871220"/>
                </a:lnTo>
                <a:lnTo>
                  <a:pt x="4105376" y="873760"/>
                </a:lnTo>
                <a:lnTo>
                  <a:pt x="4073715" y="875030"/>
                </a:lnTo>
                <a:close/>
              </a:path>
              <a:path w="4489450" h="953770">
                <a:moveTo>
                  <a:pt x="4201539" y="66971"/>
                </a:moveTo>
                <a:lnTo>
                  <a:pt x="4178773" y="60960"/>
                </a:lnTo>
                <a:lnTo>
                  <a:pt x="4148844" y="55880"/>
                </a:lnTo>
                <a:lnTo>
                  <a:pt x="4115878" y="52070"/>
                </a:lnTo>
                <a:lnTo>
                  <a:pt x="4076573" y="48260"/>
                </a:lnTo>
                <a:lnTo>
                  <a:pt x="4068603" y="46990"/>
                </a:lnTo>
                <a:lnTo>
                  <a:pt x="4098957" y="48260"/>
                </a:lnTo>
                <a:lnTo>
                  <a:pt x="4132800" y="52070"/>
                </a:lnTo>
                <a:lnTo>
                  <a:pt x="4166108" y="57150"/>
                </a:lnTo>
                <a:lnTo>
                  <a:pt x="4201539" y="66971"/>
                </a:lnTo>
                <a:close/>
              </a:path>
              <a:path w="4489450" h="953770">
                <a:moveTo>
                  <a:pt x="4226280" y="74930"/>
                </a:moveTo>
                <a:lnTo>
                  <a:pt x="4216092" y="71940"/>
                </a:lnTo>
                <a:lnTo>
                  <a:pt x="4207633" y="68580"/>
                </a:lnTo>
                <a:lnTo>
                  <a:pt x="4226280" y="74930"/>
                </a:lnTo>
                <a:close/>
              </a:path>
              <a:path w="4489450" h="953770">
                <a:moveTo>
                  <a:pt x="4259055" y="90170"/>
                </a:moveTo>
                <a:lnTo>
                  <a:pt x="4230014" y="77470"/>
                </a:lnTo>
                <a:lnTo>
                  <a:pt x="4240150" y="81280"/>
                </a:lnTo>
                <a:lnTo>
                  <a:pt x="4259055" y="90170"/>
                </a:lnTo>
                <a:close/>
              </a:path>
              <a:path w="4489450" h="953770">
                <a:moveTo>
                  <a:pt x="4274935" y="99060"/>
                </a:moveTo>
                <a:lnTo>
                  <a:pt x="4270492" y="96577"/>
                </a:lnTo>
                <a:lnTo>
                  <a:pt x="4266050" y="93980"/>
                </a:lnTo>
                <a:lnTo>
                  <a:pt x="4274935" y="99060"/>
                </a:lnTo>
                <a:close/>
              </a:path>
              <a:path w="4489450" h="953770">
                <a:moveTo>
                  <a:pt x="4317481" y="124200"/>
                </a:moveTo>
                <a:lnTo>
                  <a:pt x="4270492" y="96577"/>
                </a:lnTo>
                <a:lnTo>
                  <a:pt x="4299651" y="113030"/>
                </a:lnTo>
                <a:lnTo>
                  <a:pt x="4317481" y="124200"/>
                </a:lnTo>
                <a:close/>
              </a:path>
              <a:path w="4489450" h="953770">
                <a:moveTo>
                  <a:pt x="4344464" y="147320"/>
                </a:moveTo>
                <a:lnTo>
                  <a:pt x="4318197" y="125730"/>
                </a:lnTo>
                <a:lnTo>
                  <a:pt x="4325246" y="130768"/>
                </a:lnTo>
                <a:lnTo>
                  <a:pt x="4344464" y="147320"/>
                </a:lnTo>
                <a:close/>
              </a:path>
              <a:path w="4489450" h="953770">
                <a:moveTo>
                  <a:pt x="4325246" y="130768"/>
                </a:moveTo>
                <a:lnTo>
                  <a:pt x="4318197" y="125730"/>
                </a:lnTo>
                <a:lnTo>
                  <a:pt x="4319396" y="125730"/>
                </a:lnTo>
                <a:lnTo>
                  <a:pt x="4325246" y="130768"/>
                </a:lnTo>
                <a:close/>
              </a:path>
              <a:path w="4489450" h="953770">
                <a:moveTo>
                  <a:pt x="4361504" y="162864"/>
                </a:moveTo>
                <a:lnTo>
                  <a:pt x="4358222" y="160020"/>
                </a:lnTo>
                <a:lnTo>
                  <a:pt x="4344464" y="147320"/>
                </a:lnTo>
                <a:lnTo>
                  <a:pt x="4325246" y="130768"/>
                </a:lnTo>
                <a:lnTo>
                  <a:pt x="4327080" y="132080"/>
                </a:lnTo>
                <a:lnTo>
                  <a:pt x="4352351" y="153670"/>
                </a:lnTo>
                <a:lnTo>
                  <a:pt x="4361504" y="162864"/>
                </a:lnTo>
                <a:close/>
              </a:path>
              <a:path w="4489450" h="953770">
                <a:moveTo>
                  <a:pt x="4376372" y="177800"/>
                </a:moveTo>
                <a:lnTo>
                  <a:pt x="4364353" y="165677"/>
                </a:lnTo>
                <a:lnTo>
                  <a:pt x="4369228" y="170180"/>
                </a:lnTo>
                <a:lnTo>
                  <a:pt x="4376372" y="177800"/>
                </a:lnTo>
                <a:close/>
              </a:path>
              <a:path w="4489450" h="953770">
                <a:moveTo>
                  <a:pt x="4393288" y="196181"/>
                </a:moveTo>
                <a:lnTo>
                  <a:pt x="4382216" y="184150"/>
                </a:lnTo>
                <a:lnTo>
                  <a:pt x="4385897" y="187960"/>
                </a:lnTo>
                <a:lnTo>
                  <a:pt x="4391850" y="194310"/>
                </a:lnTo>
                <a:lnTo>
                  <a:pt x="4393288" y="196181"/>
                </a:lnTo>
                <a:close/>
              </a:path>
              <a:path w="4489450" h="953770">
                <a:moveTo>
                  <a:pt x="4398578" y="201930"/>
                </a:moveTo>
                <a:lnTo>
                  <a:pt x="4397859" y="201930"/>
                </a:lnTo>
                <a:lnTo>
                  <a:pt x="4396733" y="200664"/>
                </a:lnTo>
                <a:lnTo>
                  <a:pt x="4393288" y="196181"/>
                </a:lnTo>
                <a:lnTo>
                  <a:pt x="4398578" y="201930"/>
                </a:lnTo>
                <a:close/>
              </a:path>
              <a:path w="4489450" h="953770">
                <a:moveTo>
                  <a:pt x="4433354" y="253806"/>
                </a:moveTo>
                <a:lnTo>
                  <a:pt x="4418520" y="231140"/>
                </a:lnTo>
                <a:lnTo>
                  <a:pt x="4400661" y="205589"/>
                </a:lnTo>
                <a:lnTo>
                  <a:pt x="4399216" y="203200"/>
                </a:lnTo>
                <a:lnTo>
                  <a:pt x="4412344" y="220980"/>
                </a:lnTo>
                <a:lnTo>
                  <a:pt x="4430784" y="248920"/>
                </a:lnTo>
                <a:lnTo>
                  <a:pt x="4433354" y="253806"/>
                </a:lnTo>
                <a:close/>
              </a:path>
              <a:path w="4489450" h="953770">
                <a:moveTo>
                  <a:pt x="4411418" y="220980"/>
                </a:moveTo>
                <a:lnTo>
                  <a:pt x="4409502" y="218440"/>
                </a:lnTo>
                <a:lnTo>
                  <a:pt x="4402287" y="208280"/>
                </a:lnTo>
                <a:lnTo>
                  <a:pt x="4400661" y="205589"/>
                </a:lnTo>
                <a:lnTo>
                  <a:pt x="4411418" y="220980"/>
                </a:lnTo>
                <a:close/>
              </a:path>
              <a:path w="4489450" h="953770">
                <a:moveTo>
                  <a:pt x="4451262" y="289560"/>
                </a:moveTo>
                <a:lnTo>
                  <a:pt x="4439302" y="265430"/>
                </a:lnTo>
                <a:lnTo>
                  <a:pt x="4436967" y="260350"/>
                </a:lnTo>
                <a:lnTo>
                  <a:pt x="4442466" y="270894"/>
                </a:lnTo>
                <a:lnTo>
                  <a:pt x="4449336" y="285001"/>
                </a:lnTo>
                <a:lnTo>
                  <a:pt x="4451262" y="289560"/>
                </a:lnTo>
                <a:close/>
              </a:path>
              <a:path w="4489450" h="953770">
                <a:moveTo>
                  <a:pt x="4442466" y="270894"/>
                </a:moveTo>
                <a:lnTo>
                  <a:pt x="4436967" y="260350"/>
                </a:lnTo>
                <a:lnTo>
                  <a:pt x="4437332" y="260350"/>
                </a:lnTo>
                <a:lnTo>
                  <a:pt x="4442466" y="270894"/>
                </a:lnTo>
                <a:close/>
              </a:path>
              <a:path w="4489450" h="953770">
                <a:moveTo>
                  <a:pt x="4449336" y="285001"/>
                </a:moveTo>
                <a:lnTo>
                  <a:pt x="4442466" y="270894"/>
                </a:lnTo>
                <a:lnTo>
                  <a:pt x="4446902" y="279400"/>
                </a:lnTo>
                <a:lnTo>
                  <a:pt x="4448041" y="281940"/>
                </a:lnTo>
                <a:lnTo>
                  <a:pt x="4449336" y="285001"/>
                </a:lnTo>
                <a:close/>
              </a:path>
              <a:path w="4489450" h="953770">
                <a:moveTo>
                  <a:pt x="4451555" y="289560"/>
                </a:moveTo>
                <a:lnTo>
                  <a:pt x="4451262" y="289560"/>
                </a:lnTo>
                <a:lnTo>
                  <a:pt x="4449336" y="285001"/>
                </a:lnTo>
                <a:lnTo>
                  <a:pt x="4451555" y="289560"/>
                </a:lnTo>
                <a:close/>
              </a:path>
              <a:path w="4489450" h="953770">
                <a:moveTo>
                  <a:pt x="4460040" y="309880"/>
                </a:moveTo>
                <a:lnTo>
                  <a:pt x="4456757" y="302260"/>
                </a:lnTo>
                <a:lnTo>
                  <a:pt x="4454074" y="295910"/>
                </a:lnTo>
                <a:lnTo>
                  <a:pt x="4452887" y="292625"/>
                </a:lnTo>
                <a:lnTo>
                  <a:pt x="4454271" y="295910"/>
                </a:lnTo>
                <a:lnTo>
                  <a:pt x="4460040" y="309880"/>
                </a:lnTo>
                <a:close/>
              </a:path>
              <a:path w="4489450" h="953770">
                <a:moveTo>
                  <a:pt x="4462339" y="315325"/>
                </a:moveTo>
                <a:lnTo>
                  <a:pt x="4461153" y="312577"/>
                </a:lnTo>
                <a:lnTo>
                  <a:pt x="4454271" y="295910"/>
                </a:lnTo>
                <a:lnTo>
                  <a:pt x="4457111" y="302260"/>
                </a:lnTo>
                <a:lnTo>
                  <a:pt x="4460430" y="309880"/>
                </a:lnTo>
                <a:lnTo>
                  <a:pt x="4461351" y="312577"/>
                </a:lnTo>
                <a:lnTo>
                  <a:pt x="4462339" y="315325"/>
                </a:lnTo>
                <a:close/>
              </a:path>
              <a:path w="4489450" h="953770">
                <a:moveTo>
                  <a:pt x="4465459" y="323999"/>
                </a:moveTo>
                <a:lnTo>
                  <a:pt x="4463003" y="317172"/>
                </a:lnTo>
                <a:lnTo>
                  <a:pt x="4464196" y="320040"/>
                </a:lnTo>
                <a:lnTo>
                  <a:pt x="4465459" y="323999"/>
                </a:lnTo>
                <a:close/>
              </a:path>
              <a:path w="4489450" h="953770">
                <a:moveTo>
                  <a:pt x="4471078" y="339606"/>
                </a:moveTo>
                <a:lnTo>
                  <a:pt x="4468743" y="333761"/>
                </a:lnTo>
                <a:lnTo>
                  <a:pt x="4466688" y="327660"/>
                </a:lnTo>
                <a:lnTo>
                  <a:pt x="4468148" y="331470"/>
                </a:lnTo>
                <a:lnTo>
                  <a:pt x="4471078" y="339606"/>
                </a:lnTo>
                <a:close/>
              </a:path>
              <a:path w="4489450" h="953770">
                <a:moveTo>
                  <a:pt x="4477727" y="364490"/>
                </a:moveTo>
                <a:lnTo>
                  <a:pt x="4476667" y="360680"/>
                </a:lnTo>
                <a:lnTo>
                  <a:pt x="4471569" y="341205"/>
                </a:lnTo>
                <a:lnTo>
                  <a:pt x="4474718" y="351790"/>
                </a:lnTo>
                <a:lnTo>
                  <a:pt x="4477727" y="364490"/>
                </a:lnTo>
                <a:close/>
              </a:path>
              <a:path w="4489450" h="953770">
                <a:moveTo>
                  <a:pt x="4482650" y="389730"/>
                </a:moveTo>
                <a:lnTo>
                  <a:pt x="4482159" y="387341"/>
                </a:lnTo>
                <a:lnTo>
                  <a:pt x="4480494" y="377190"/>
                </a:lnTo>
                <a:lnTo>
                  <a:pt x="4482025" y="384810"/>
                </a:lnTo>
                <a:lnTo>
                  <a:pt x="4482650" y="389730"/>
                </a:lnTo>
                <a:close/>
              </a:path>
              <a:path w="4489450" h="953770">
                <a:moveTo>
                  <a:pt x="4486436" y="415290"/>
                </a:moveTo>
                <a:lnTo>
                  <a:pt x="4485291" y="407670"/>
                </a:lnTo>
                <a:lnTo>
                  <a:pt x="4484504" y="401598"/>
                </a:lnTo>
                <a:lnTo>
                  <a:pt x="4485613" y="407670"/>
                </a:lnTo>
                <a:lnTo>
                  <a:pt x="4486436" y="415290"/>
                </a:lnTo>
                <a:close/>
              </a:path>
              <a:path w="4489450" h="953770">
                <a:moveTo>
                  <a:pt x="4488070" y="484585"/>
                </a:moveTo>
                <a:lnTo>
                  <a:pt x="4488132" y="480060"/>
                </a:lnTo>
                <a:lnTo>
                  <a:pt x="4488782" y="452120"/>
                </a:lnTo>
                <a:lnTo>
                  <a:pt x="4486919" y="420089"/>
                </a:lnTo>
                <a:lnTo>
                  <a:pt x="4489007" y="440690"/>
                </a:lnTo>
                <a:lnTo>
                  <a:pt x="4489036" y="473710"/>
                </a:lnTo>
                <a:lnTo>
                  <a:pt x="4488524" y="480060"/>
                </a:lnTo>
                <a:lnTo>
                  <a:pt x="4488070" y="484585"/>
                </a:lnTo>
                <a:close/>
              </a:path>
              <a:path w="4489450" h="953770">
                <a:moveTo>
                  <a:pt x="4485691" y="510540"/>
                </a:moveTo>
                <a:lnTo>
                  <a:pt x="4486187" y="505116"/>
                </a:lnTo>
                <a:lnTo>
                  <a:pt x="4487405" y="494030"/>
                </a:lnTo>
                <a:lnTo>
                  <a:pt x="4486386" y="506730"/>
                </a:lnTo>
                <a:lnTo>
                  <a:pt x="4485691" y="510540"/>
                </a:lnTo>
                <a:close/>
              </a:path>
              <a:path w="4489450" h="953770">
                <a:moveTo>
                  <a:pt x="4482686" y="530860"/>
                </a:moveTo>
                <a:lnTo>
                  <a:pt x="4485691" y="510540"/>
                </a:lnTo>
                <a:lnTo>
                  <a:pt x="4485061" y="518160"/>
                </a:lnTo>
                <a:lnTo>
                  <a:pt x="4482686" y="530860"/>
                </a:lnTo>
                <a:close/>
              </a:path>
              <a:path w="4489450" h="953770">
                <a:moveTo>
                  <a:pt x="4479841" y="546100"/>
                </a:moveTo>
                <a:lnTo>
                  <a:pt x="4482686" y="530860"/>
                </a:lnTo>
                <a:lnTo>
                  <a:pt x="4481236" y="541020"/>
                </a:lnTo>
                <a:lnTo>
                  <a:pt x="4479841" y="546100"/>
                </a:lnTo>
                <a:close/>
              </a:path>
              <a:path w="4489450" h="953770">
                <a:moveTo>
                  <a:pt x="4477729" y="556260"/>
                </a:moveTo>
                <a:lnTo>
                  <a:pt x="4479841" y="546100"/>
                </a:lnTo>
                <a:lnTo>
                  <a:pt x="4479123" y="551180"/>
                </a:lnTo>
                <a:lnTo>
                  <a:pt x="4477729" y="556260"/>
                </a:lnTo>
                <a:close/>
              </a:path>
              <a:path w="4489450" h="953770">
                <a:moveTo>
                  <a:pt x="4471377" y="580390"/>
                </a:moveTo>
                <a:lnTo>
                  <a:pt x="4474390" y="569192"/>
                </a:lnTo>
                <a:lnTo>
                  <a:pt x="4475395" y="565125"/>
                </a:lnTo>
                <a:lnTo>
                  <a:pt x="4476926" y="560070"/>
                </a:lnTo>
                <a:lnTo>
                  <a:pt x="4473765" y="574040"/>
                </a:lnTo>
                <a:lnTo>
                  <a:pt x="4471377" y="580390"/>
                </a:lnTo>
                <a:close/>
              </a:path>
              <a:path w="4489450" h="953770">
                <a:moveTo>
                  <a:pt x="4436921" y="660400"/>
                </a:moveTo>
                <a:lnTo>
                  <a:pt x="4449834" y="636270"/>
                </a:lnTo>
                <a:lnTo>
                  <a:pt x="4463095" y="604520"/>
                </a:lnTo>
                <a:lnTo>
                  <a:pt x="4471377" y="580390"/>
                </a:lnTo>
                <a:lnTo>
                  <a:pt x="4470506" y="584200"/>
                </a:lnTo>
                <a:lnTo>
                  <a:pt x="4459478" y="615950"/>
                </a:lnTo>
                <a:lnTo>
                  <a:pt x="4445399" y="646430"/>
                </a:lnTo>
                <a:lnTo>
                  <a:pt x="4436921" y="660400"/>
                </a:lnTo>
                <a:close/>
              </a:path>
              <a:path w="4489450" h="953770">
                <a:moveTo>
                  <a:pt x="4431878" y="669290"/>
                </a:moveTo>
                <a:lnTo>
                  <a:pt x="4436921" y="660400"/>
                </a:lnTo>
                <a:lnTo>
                  <a:pt x="4434252" y="666750"/>
                </a:lnTo>
                <a:lnTo>
                  <a:pt x="4431878" y="669290"/>
                </a:lnTo>
                <a:close/>
              </a:path>
              <a:path w="4489450" h="953770">
                <a:moveTo>
                  <a:pt x="4421689" y="685800"/>
                </a:moveTo>
                <a:lnTo>
                  <a:pt x="4431878" y="669290"/>
                </a:lnTo>
                <a:lnTo>
                  <a:pt x="4428998" y="675640"/>
                </a:lnTo>
                <a:lnTo>
                  <a:pt x="4421689" y="685800"/>
                </a:lnTo>
                <a:close/>
              </a:path>
              <a:path w="4489450" h="953770">
                <a:moveTo>
                  <a:pt x="4414279" y="697230"/>
                </a:moveTo>
                <a:lnTo>
                  <a:pt x="4421689" y="685800"/>
                </a:lnTo>
                <a:lnTo>
                  <a:pt x="4416615" y="694690"/>
                </a:lnTo>
                <a:lnTo>
                  <a:pt x="4414279" y="697230"/>
                </a:lnTo>
                <a:close/>
              </a:path>
              <a:path w="4489450" h="953770">
                <a:moveTo>
                  <a:pt x="4398088" y="719541"/>
                </a:moveTo>
                <a:lnTo>
                  <a:pt x="4401432" y="715010"/>
                </a:lnTo>
                <a:lnTo>
                  <a:pt x="4409664" y="703580"/>
                </a:lnTo>
                <a:lnTo>
                  <a:pt x="4414279" y="697230"/>
                </a:lnTo>
                <a:lnTo>
                  <a:pt x="4410454" y="703580"/>
                </a:lnTo>
                <a:lnTo>
                  <a:pt x="4401664" y="715010"/>
                </a:lnTo>
                <a:lnTo>
                  <a:pt x="4398088" y="719541"/>
                </a:lnTo>
                <a:close/>
              </a:path>
              <a:path w="4489450" h="953770">
                <a:moveTo>
                  <a:pt x="4276894" y="821690"/>
                </a:moveTo>
                <a:lnTo>
                  <a:pt x="4324223" y="791210"/>
                </a:lnTo>
                <a:lnTo>
                  <a:pt x="4374348" y="746760"/>
                </a:lnTo>
                <a:lnTo>
                  <a:pt x="4395859" y="722366"/>
                </a:lnTo>
                <a:lnTo>
                  <a:pt x="4395214" y="723330"/>
                </a:lnTo>
                <a:lnTo>
                  <a:pt x="4367175" y="755650"/>
                </a:lnTo>
                <a:lnTo>
                  <a:pt x="4315204" y="798830"/>
                </a:lnTo>
                <a:lnTo>
                  <a:pt x="4287075" y="816610"/>
                </a:lnTo>
                <a:lnTo>
                  <a:pt x="4276894" y="821690"/>
                </a:lnTo>
                <a:close/>
              </a:path>
              <a:path w="4489450" h="953770">
                <a:moveTo>
                  <a:pt x="4053042" y="873760"/>
                </a:moveTo>
                <a:lnTo>
                  <a:pt x="4036346" y="873760"/>
                </a:lnTo>
                <a:lnTo>
                  <a:pt x="3995685" y="869950"/>
                </a:lnTo>
                <a:lnTo>
                  <a:pt x="3951741" y="863600"/>
                </a:lnTo>
                <a:lnTo>
                  <a:pt x="3854054" y="845820"/>
                </a:lnTo>
                <a:lnTo>
                  <a:pt x="3743375" y="830580"/>
                </a:lnTo>
                <a:lnTo>
                  <a:pt x="3683190" y="825500"/>
                </a:lnTo>
                <a:lnTo>
                  <a:pt x="3555038" y="817880"/>
                </a:lnTo>
                <a:lnTo>
                  <a:pt x="3292292" y="811530"/>
                </a:lnTo>
                <a:lnTo>
                  <a:pt x="3235436" y="811530"/>
                </a:lnTo>
                <a:lnTo>
                  <a:pt x="3177939" y="810260"/>
                </a:lnTo>
                <a:lnTo>
                  <a:pt x="2892782" y="808990"/>
                </a:lnTo>
                <a:lnTo>
                  <a:pt x="3852164" y="808990"/>
                </a:lnTo>
                <a:lnTo>
                  <a:pt x="3870639" y="820420"/>
                </a:lnTo>
                <a:lnTo>
                  <a:pt x="3900360" y="836930"/>
                </a:lnTo>
                <a:lnTo>
                  <a:pt x="3931168" y="849630"/>
                </a:lnTo>
                <a:lnTo>
                  <a:pt x="3963225" y="859790"/>
                </a:lnTo>
                <a:lnTo>
                  <a:pt x="3995997" y="867410"/>
                </a:lnTo>
                <a:lnTo>
                  <a:pt x="4028948" y="872490"/>
                </a:lnTo>
                <a:lnTo>
                  <a:pt x="4053042" y="873760"/>
                </a:lnTo>
                <a:close/>
              </a:path>
              <a:path w="4489450" h="953770">
                <a:moveTo>
                  <a:pt x="4264217" y="829310"/>
                </a:moveTo>
                <a:lnTo>
                  <a:pt x="4275456" y="823285"/>
                </a:lnTo>
                <a:lnTo>
                  <a:pt x="4267668" y="828040"/>
                </a:lnTo>
                <a:lnTo>
                  <a:pt x="4264217" y="829310"/>
                </a:lnTo>
                <a:close/>
              </a:path>
              <a:path w="4489450" h="953770">
                <a:moveTo>
                  <a:pt x="2154406" y="831850"/>
                </a:moveTo>
                <a:lnTo>
                  <a:pt x="1890608" y="825500"/>
                </a:lnTo>
                <a:lnTo>
                  <a:pt x="2326296" y="825500"/>
                </a:lnTo>
                <a:lnTo>
                  <a:pt x="2256337" y="829310"/>
                </a:lnTo>
                <a:lnTo>
                  <a:pt x="2154406" y="831850"/>
                </a:lnTo>
                <a:close/>
              </a:path>
              <a:path w="4489450" h="953770">
                <a:moveTo>
                  <a:pt x="4243866" y="838200"/>
                </a:moveTo>
                <a:lnTo>
                  <a:pt x="4264217" y="829310"/>
                </a:lnTo>
                <a:lnTo>
                  <a:pt x="4258084" y="833120"/>
                </a:lnTo>
                <a:lnTo>
                  <a:pt x="4243866" y="838200"/>
                </a:lnTo>
                <a:close/>
              </a:path>
              <a:path w="4489450" h="953770">
                <a:moveTo>
                  <a:pt x="4230544" y="843280"/>
                </a:moveTo>
                <a:lnTo>
                  <a:pt x="4243866" y="838200"/>
                </a:lnTo>
                <a:lnTo>
                  <a:pt x="4237292" y="842010"/>
                </a:lnTo>
                <a:lnTo>
                  <a:pt x="4230544" y="843280"/>
                </a:lnTo>
                <a:close/>
              </a:path>
              <a:path w="4489450" h="953770">
                <a:moveTo>
                  <a:pt x="4207960" y="852170"/>
                </a:moveTo>
                <a:lnTo>
                  <a:pt x="4230544" y="843280"/>
                </a:lnTo>
                <a:lnTo>
                  <a:pt x="4212967" y="850526"/>
                </a:lnTo>
                <a:lnTo>
                  <a:pt x="4207960" y="852170"/>
                </a:lnTo>
                <a:close/>
              </a:path>
              <a:path w="4489450" h="953770">
                <a:moveTo>
                  <a:pt x="4212967" y="850526"/>
                </a:moveTo>
                <a:lnTo>
                  <a:pt x="4230544" y="843280"/>
                </a:lnTo>
                <a:lnTo>
                  <a:pt x="4227306" y="845820"/>
                </a:lnTo>
                <a:lnTo>
                  <a:pt x="4212967" y="850526"/>
                </a:lnTo>
                <a:close/>
              </a:path>
              <a:path w="4489450" h="953770">
                <a:moveTo>
                  <a:pt x="4208981" y="852170"/>
                </a:moveTo>
                <a:lnTo>
                  <a:pt x="4207960" y="852170"/>
                </a:lnTo>
                <a:lnTo>
                  <a:pt x="4212967" y="850526"/>
                </a:lnTo>
                <a:lnTo>
                  <a:pt x="4208981" y="852170"/>
                </a:lnTo>
                <a:close/>
              </a:path>
              <a:path w="4489450" h="953770">
                <a:moveTo>
                  <a:pt x="4163250" y="866140"/>
                </a:moveTo>
                <a:lnTo>
                  <a:pt x="4156132" y="866140"/>
                </a:lnTo>
                <a:lnTo>
                  <a:pt x="4175648" y="862330"/>
                </a:lnTo>
                <a:lnTo>
                  <a:pt x="4205900" y="853440"/>
                </a:lnTo>
                <a:lnTo>
                  <a:pt x="4195457" y="857250"/>
                </a:lnTo>
                <a:lnTo>
                  <a:pt x="4163250" y="866140"/>
                </a:lnTo>
                <a:close/>
              </a:path>
              <a:path w="4489450" h="953770">
                <a:moveTo>
                  <a:pt x="4112217" y="873760"/>
                </a:moveTo>
                <a:lnTo>
                  <a:pt x="4105376" y="873760"/>
                </a:lnTo>
                <a:lnTo>
                  <a:pt x="4129943" y="871220"/>
                </a:lnTo>
                <a:lnTo>
                  <a:pt x="4156132" y="866140"/>
                </a:lnTo>
                <a:lnTo>
                  <a:pt x="4145272" y="869950"/>
                </a:lnTo>
                <a:lnTo>
                  <a:pt x="4112217" y="873760"/>
                </a:lnTo>
                <a:close/>
              </a:path>
              <a:path w="4489450" h="953770">
                <a:moveTo>
                  <a:pt x="4073715" y="875030"/>
                </a:moveTo>
                <a:lnTo>
                  <a:pt x="4062256" y="875030"/>
                </a:lnTo>
                <a:lnTo>
                  <a:pt x="4053042" y="873760"/>
                </a:lnTo>
                <a:lnTo>
                  <a:pt x="4073715" y="875030"/>
                </a:lnTo>
                <a:close/>
              </a:path>
              <a:path w="4489450" h="953770">
                <a:moveTo>
                  <a:pt x="4096099" y="875030"/>
                </a:moveTo>
                <a:lnTo>
                  <a:pt x="4073715" y="875030"/>
                </a:lnTo>
                <a:lnTo>
                  <a:pt x="4105376" y="873760"/>
                </a:lnTo>
                <a:lnTo>
                  <a:pt x="4096099" y="875030"/>
                </a:lnTo>
                <a:close/>
              </a:path>
            </a:pathLst>
          </a:custGeom>
          <a:solidFill>
            <a:srgbClr val="F2F1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631321" y="9064818"/>
            <a:ext cx="357441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125" dirty="0">
                <a:solidFill>
                  <a:srgbClr val="3D0961"/>
                </a:solidFill>
                <a:latin typeface="Tahoma"/>
                <a:cs typeface="Tahoma"/>
              </a:rPr>
              <a:t>Raw</a:t>
            </a:r>
            <a:r>
              <a:rPr sz="2250" b="1" spc="-110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2250" b="1" spc="-90" dirty="0">
                <a:solidFill>
                  <a:srgbClr val="3D0961"/>
                </a:solidFill>
                <a:latin typeface="Tahoma"/>
                <a:cs typeface="Tahoma"/>
              </a:rPr>
              <a:t>Data</a:t>
            </a:r>
            <a:r>
              <a:rPr sz="2250" b="1" spc="-110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2250" b="1" spc="-65" dirty="0">
                <a:solidFill>
                  <a:srgbClr val="3D0961"/>
                </a:solidFill>
                <a:latin typeface="Tahoma"/>
                <a:cs typeface="Tahoma"/>
              </a:rPr>
              <a:t>(Stored</a:t>
            </a:r>
            <a:r>
              <a:rPr sz="2250" b="1" spc="-105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2250" b="1" spc="-30" dirty="0">
                <a:solidFill>
                  <a:srgbClr val="3D0961"/>
                </a:solidFill>
                <a:latin typeface="Tahoma"/>
                <a:cs typeface="Tahoma"/>
              </a:rPr>
              <a:t>Locally)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108143"/>
            <a:ext cx="2807335" cy="6974205"/>
            <a:chOff x="0" y="3108143"/>
            <a:chExt cx="2807335" cy="697420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5081" y="3108143"/>
              <a:ext cx="133349" cy="1333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5081" y="4850257"/>
              <a:ext cx="133349" cy="133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5081" y="8066849"/>
              <a:ext cx="133349" cy="1333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5081" y="6458554"/>
              <a:ext cx="133349" cy="1333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5904160"/>
              <a:ext cx="2807225" cy="417805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6131883" y="298338"/>
            <a:ext cx="63436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45" dirty="0">
                <a:solidFill>
                  <a:srgbClr val="731B9E"/>
                </a:solidFill>
                <a:latin typeface="Century Gothic"/>
                <a:cs typeface="Century Gothic"/>
              </a:rPr>
              <a:t>10/2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249" y="-95249"/>
            <a:ext cx="18478500" cy="10477500"/>
            <a:chOff x="-95249" y="-95249"/>
            <a:chExt cx="18478500" cy="10477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7997" y="0"/>
                  </a:lnTo>
                  <a:lnTo>
                    <a:pt x="18287997" y="10286999"/>
                  </a:lnTo>
                  <a:lnTo>
                    <a:pt x="0" y="10286999"/>
                  </a:lnTo>
                  <a:lnTo>
                    <a:pt x="0" y="0"/>
                  </a:lnTo>
                  <a:close/>
                </a:path>
              </a:pathLst>
            </a:custGeom>
            <a:ln w="190499">
              <a:solidFill>
                <a:srgbClr val="13A6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75852" y="5706541"/>
              <a:ext cx="409575" cy="222885"/>
            </a:xfrm>
            <a:custGeom>
              <a:avLst/>
              <a:gdLst/>
              <a:ahLst/>
              <a:cxnLst/>
              <a:rect l="l" t="t" r="r" b="b"/>
              <a:pathLst>
                <a:path w="409575" h="222885">
                  <a:moveTo>
                    <a:pt x="378773" y="222559"/>
                  </a:moveTo>
                  <a:lnTo>
                    <a:pt x="30749" y="222559"/>
                  </a:lnTo>
                  <a:lnTo>
                    <a:pt x="18771" y="220147"/>
                  </a:lnTo>
                  <a:lnTo>
                    <a:pt x="8997" y="213572"/>
                  </a:lnTo>
                  <a:lnTo>
                    <a:pt x="2413" y="203825"/>
                  </a:lnTo>
                  <a:lnTo>
                    <a:pt x="0" y="191898"/>
                  </a:lnTo>
                  <a:lnTo>
                    <a:pt x="0" y="153395"/>
                  </a:lnTo>
                  <a:lnTo>
                    <a:pt x="16806" y="82578"/>
                  </a:lnTo>
                  <a:lnTo>
                    <a:pt x="63349" y="26696"/>
                  </a:lnTo>
                  <a:lnTo>
                    <a:pt x="98856" y="0"/>
                  </a:lnTo>
                  <a:lnTo>
                    <a:pt x="111191" y="16387"/>
                  </a:lnTo>
                  <a:lnTo>
                    <a:pt x="75684" y="43084"/>
                  </a:lnTo>
                  <a:lnTo>
                    <a:pt x="52495" y="65228"/>
                  </a:lnTo>
                  <a:lnTo>
                    <a:pt x="35154" y="91841"/>
                  </a:lnTo>
                  <a:lnTo>
                    <a:pt x="24290" y="121675"/>
                  </a:lnTo>
                  <a:lnTo>
                    <a:pt x="20529" y="153483"/>
                  </a:lnTo>
                  <a:lnTo>
                    <a:pt x="20529" y="197625"/>
                  </a:lnTo>
                  <a:lnTo>
                    <a:pt x="25110" y="202206"/>
                  </a:lnTo>
                  <a:lnTo>
                    <a:pt x="384412" y="202206"/>
                  </a:lnTo>
                  <a:lnTo>
                    <a:pt x="388994" y="197625"/>
                  </a:lnTo>
                  <a:lnTo>
                    <a:pt x="388994" y="155509"/>
                  </a:lnTo>
                  <a:lnTo>
                    <a:pt x="373729" y="92457"/>
                  </a:lnTo>
                  <a:lnTo>
                    <a:pt x="331372" y="43348"/>
                  </a:lnTo>
                  <a:lnTo>
                    <a:pt x="296569" y="18326"/>
                  </a:lnTo>
                  <a:lnTo>
                    <a:pt x="308464" y="1674"/>
                  </a:lnTo>
                  <a:lnTo>
                    <a:pt x="343266" y="26608"/>
                  </a:lnTo>
                  <a:lnTo>
                    <a:pt x="391957" y="83008"/>
                  </a:lnTo>
                  <a:lnTo>
                    <a:pt x="409523" y="155333"/>
                  </a:lnTo>
                  <a:lnTo>
                    <a:pt x="409523" y="191809"/>
                  </a:lnTo>
                  <a:lnTo>
                    <a:pt x="407097" y="203788"/>
                  </a:lnTo>
                  <a:lnTo>
                    <a:pt x="400492" y="213561"/>
                  </a:lnTo>
                  <a:lnTo>
                    <a:pt x="390715" y="220146"/>
                  </a:lnTo>
                  <a:lnTo>
                    <a:pt x="378773" y="2225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8012" y="5499136"/>
              <a:ext cx="225202" cy="2252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4204" y="7930965"/>
              <a:ext cx="5601973" cy="18667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4203" y="7497334"/>
              <a:ext cx="6290894" cy="24523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662" y="16674"/>
              <a:ext cx="18254980" cy="1519555"/>
            </a:xfrm>
            <a:custGeom>
              <a:avLst/>
              <a:gdLst/>
              <a:ahLst/>
              <a:cxnLst/>
              <a:rect l="l" t="t" r="r" b="b"/>
              <a:pathLst>
                <a:path w="18254980" h="1519555">
                  <a:moveTo>
                    <a:pt x="18254663" y="0"/>
                  </a:moveTo>
                  <a:lnTo>
                    <a:pt x="18254663" y="0"/>
                  </a:lnTo>
                  <a:lnTo>
                    <a:pt x="0" y="0"/>
                  </a:lnTo>
                  <a:lnTo>
                    <a:pt x="0" y="1519237"/>
                  </a:lnTo>
                  <a:lnTo>
                    <a:pt x="18254663" y="1519237"/>
                  </a:lnTo>
                  <a:lnTo>
                    <a:pt x="18254663" y="0"/>
                  </a:lnTo>
                  <a:close/>
                </a:path>
              </a:pathLst>
            </a:custGeom>
            <a:solidFill>
              <a:srgbClr val="D8CD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89123" y="371538"/>
            <a:ext cx="1026794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b="0" spc="-290" dirty="0">
                <a:solidFill>
                  <a:srgbClr val="3D0961"/>
                </a:solidFill>
                <a:latin typeface="Arial Black"/>
                <a:cs typeface="Arial Black"/>
              </a:rPr>
              <a:t>Ref.</a:t>
            </a:r>
            <a:endParaRPr sz="41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1771" y="482695"/>
            <a:ext cx="465963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b="1" spc="-10" dirty="0">
                <a:solidFill>
                  <a:srgbClr val="3D0961"/>
                </a:solidFill>
                <a:latin typeface="Arial"/>
                <a:cs typeface="Arial"/>
              </a:rPr>
              <a:t>Technical</a:t>
            </a:r>
            <a:r>
              <a:rPr sz="3350" b="1" spc="-18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3350" b="1" spc="-10" dirty="0">
                <a:solidFill>
                  <a:srgbClr val="3D0961"/>
                </a:solidFill>
                <a:latin typeface="Arial"/>
                <a:cs typeface="Arial"/>
              </a:rPr>
              <a:t>Contribution</a:t>
            </a:r>
            <a:endParaRPr sz="3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73619" y="457263"/>
            <a:ext cx="3078480" cy="570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50" b="1" dirty="0">
                <a:solidFill>
                  <a:srgbClr val="3D0961"/>
                </a:solidFill>
                <a:latin typeface="Arial"/>
                <a:cs typeface="Arial"/>
              </a:rPr>
              <a:t>Research</a:t>
            </a:r>
            <a:r>
              <a:rPr sz="3550" b="1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3550" b="1" spc="-25" dirty="0">
                <a:solidFill>
                  <a:srgbClr val="3D0961"/>
                </a:solidFill>
                <a:latin typeface="Arial"/>
                <a:cs typeface="Arial"/>
              </a:rPr>
              <a:t>Gap</a:t>
            </a:r>
            <a:endParaRPr sz="3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498" y="2073370"/>
            <a:ext cx="652145" cy="4483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dirty="0">
                <a:solidFill>
                  <a:srgbClr val="3D0961"/>
                </a:solidFill>
                <a:latin typeface="Arial"/>
                <a:cs typeface="Arial"/>
              </a:rPr>
              <a:t>[</a:t>
            </a:r>
            <a:r>
              <a:rPr sz="2750" b="1" spc="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3D0961"/>
                </a:solidFill>
                <a:latin typeface="Arial"/>
                <a:cs typeface="Arial"/>
              </a:rPr>
              <a:t>1</a:t>
            </a:r>
            <a:r>
              <a:rPr sz="2750" b="1" spc="2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750" b="1" spc="-50" dirty="0">
                <a:solidFill>
                  <a:srgbClr val="3D0961"/>
                </a:solidFill>
                <a:latin typeface="Arial"/>
                <a:cs typeface="Arial"/>
              </a:rPr>
              <a:t>]</a:t>
            </a:r>
            <a:endParaRPr sz="2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2908" y="1924113"/>
            <a:ext cx="7897495" cy="7264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76900"/>
              </a:lnSpc>
              <a:spcBef>
                <a:spcPts val="819"/>
              </a:spcBef>
            </a:pP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Detects</a:t>
            </a:r>
            <a:r>
              <a:rPr sz="2600" spc="-10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collaborative</a:t>
            </a:r>
            <a:r>
              <a:rPr sz="2600" spc="-10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attackers</a:t>
            </a:r>
            <a:r>
              <a:rPr sz="2600" spc="-10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via</a:t>
            </a:r>
            <a:r>
              <a:rPr sz="2600" spc="-10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Euclidean</a:t>
            </a:r>
            <a:r>
              <a:rPr sz="2600" spc="-10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D0961"/>
                </a:solidFill>
                <a:latin typeface="Arial"/>
                <a:cs typeface="Arial"/>
              </a:rPr>
              <a:t>distance </a:t>
            </a: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analysis</a:t>
            </a:r>
            <a:r>
              <a:rPr sz="2600" spc="-7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and</a:t>
            </a:r>
            <a:r>
              <a:rPr sz="2600" spc="-7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dynamic</a:t>
            </a:r>
            <a:r>
              <a:rPr sz="2600" spc="-7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3D0961"/>
                </a:solidFill>
                <a:latin typeface="Arial"/>
                <a:cs typeface="Arial"/>
              </a:rPr>
              <a:t>clique</a:t>
            </a:r>
            <a:r>
              <a:rPr sz="2600" spc="-7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3D0961"/>
                </a:solidFill>
                <a:latin typeface="Arial"/>
                <a:cs typeface="Arial"/>
              </a:rPr>
              <a:t>formation.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282" y="3699109"/>
            <a:ext cx="584835" cy="402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3D0961"/>
                </a:solidFill>
                <a:latin typeface="Arial"/>
                <a:cs typeface="Arial"/>
              </a:rPr>
              <a:t>[</a:t>
            </a:r>
            <a:r>
              <a:rPr sz="2450" b="1" spc="1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3D0961"/>
                </a:solidFill>
                <a:latin typeface="Arial"/>
                <a:cs typeface="Arial"/>
              </a:rPr>
              <a:t>2</a:t>
            </a:r>
            <a:r>
              <a:rPr sz="2450" b="1" spc="1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450" b="1" spc="-50" dirty="0">
                <a:solidFill>
                  <a:srgbClr val="3D0961"/>
                </a:solidFill>
                <a:latin typeface="Arial"/>
                <a:cs typeface="Arial"/>
              </a:rPr>
              <a:t>]</a:t>
            </a:r>
            <a:endParaRPr sz="2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2908" y="3495940"/>
            <a:ext cx="8359140" cy="7397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495"/>
              </a:spcBef>
            </a:pPr>
            <a:r>
              <a:rPr sz="2500" spc="-10" dirty="0">
                <a:solidFill>
                  <a:srgbClr val="3D0961"/>
                </a:solidFill>
                <a:latin typeface="Sans Serif Collection"/>
                <a:cs typeface="Sans Serif Collection"/>
              </a:rPr>
              <a:t>Comprehensive</a:t>
            </a:r>
            <a:r>
              <a:rPr sz="2500" spc="-75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dirty="0">
                <a:solidFill>
                  <a:srgbClr val="3D0961"/>
                </a:solidFill>
                <a:latin typeface="Sans Serif Collection"/>
                <a:cs typeface="Sans Serif Collection"/>
              </a:rPr>
              <a:t>benchmarking</a:t>
            </a:r>
            <a:r>
              <a:rPr sz="25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dirty="0">
                <a:solidFill>
                  <a:srgbClr val="3D0961"/>
                </a:solidFill>
                <a:latin typeface="Sans Serif Collection"/>
                <a:cs typeface="Sans Serif Collection"/>
              </a:rPr>
              <a:t>of</a:t>
            </a:r>
            <a:r>
              <a:rPr sz="2500" spc="-75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dirty="0">
                <a:solidFill>
                  <a:srgbClr val="3D0961"/>
                </a:solidFill>
                <a:latin typeface="Sans Serif Collection"/>
                <a:cs typeface="Sans Serif Collection"/>
              </a:rPr>
              <a:t>poisoning</a:t>
            </a:r>
            <a:r>
              <a:rPr sz="25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dirty="0">
                <a:solidFill>
                  <a:srgbClr val="3D0961"/>
                </a:solidFill>
                <a:latin typeface="Sans Serif Collection"/>
                <a:cs typeface="Sans Serif Collection"/>
              </a:rPr>
              <a:t>attacks</a:t>
            </a:r>
            <a:r>
              <a:rPr sz="2500" spc="-75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spc="-25" dirty="0">
                <a:solidFill>
                  <a:srgbClr val="3D0961"/>
                </a:solidFill>
                <a:latin typeface="Sans Serif Collection"/>
                <a:cs typeface="Sans Serif Collection"/>
              </a:rPr>
              <a:t>and </a:t>
            </a:r>
            <a:r>
              <a:rPr sz="2500" dirty="0">
                <a:solidFill>
                  <a:srgbClr val="3D0961"/>
                </a:solidFill>
                <a:latin typeface="Sans Serif Collection"/>
                <a:cs typeface="Sans Serif Collection"/>
              </a:rPr>
              <a:t>robust</a:t>
            </a:r>
            <a:r>
              <a:rPr sz="2500" spc="-85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dirty="0">
                <a:solidFill>
                  <a:srgbClr val="3D0961"/>
                </a:solidFill>
                <a:latin typeface="Sans Serif Collection"/>
                <a:cs typeface="Sans Serif Collection"/>
              </a:rPr>
              <a:t>aggregation</a:t>
            </a:r>
            <a:r>
              <a:rPr sz="2500" spc="-8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dirty="0">
                <a:solidFill>
                  <a:srgbClr val="3D0961"/>
                </a:solidFill>
                <a:latin typeface="Sans Serif Collection"/>
                <a:cs typeface="Sans Serif Collection"/>
              </a:rPr>
              <a:t>defenses</a:t>
            </a:r>
            <a:r>
              <a:rPr sz="2500" spc="-8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dirty="0">
                <a:solidFill>
                  <a:srgbClr val="3D0961"/>
                </a:solidFill>
                <a:latin typeface="Sans Serif Collection"/>
                <a:cs typeface="Sans Serif Collection"/>
              </a:rPr>
              <a:t>in</a:t>
            </a:r>
            <a:r>
              <a:rPr sz="2500" spc="-8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500" spc="-25" dirty="0">
                <a:solidFill>
                  <a:srgbClr val="3D0961"/>
                </a:solidFill>
                <a:latin typeface="Sans Serif Collection"/>
                <a:cs typeface="Sans Serif Collection"/>
              </a:rPr>
              <a:t>FL.</a:t>
            </a:r>
            <a:endParaRPr sz="2500">
              <a:latin typeface="Sans Serif Collection"/>
              <a:cs typeface="Sans Serif Collectio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1741" y="5362172"/>
            <a:ext cx="561975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solidFill>
                  <a:srgbClr val="3D0961"/>
                </a:solidFill>
                <a:latin typeface="Arial"/>
                <a:cs typeface="Arial"/>
              </a:rPr>
              <a:t>[</a:t>
            </a:r>
            <a:r>
              <a:rPr sz="2350" b="1" spc="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3D0961"/>
                </a:solidFill>
                <a:latin typeface="Arial"/>
                <a:cs typeface="Arial"/>
              </a:rPr>
              <a:t>3</a:t>
            </a:r>
            <a:r>
              <a:rPr sz="2350" b="1" spc="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b="1" spc="-50" dirty="0">
                <a:solidFill>
                  <a:srgbClr val="3D0961"/>
                </a:solidFill>
                <a:latin typeface="Arial"/>
                <a:cs typeface="Arial"/>
              </a:rPr>
              <a:t>]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2908" y="5057924"/>
            <a:ext cx="793242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Proves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bypass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of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standard</a:t>
            </a:r>
            <a:r>
              <a:rPr sz="2400" spc="-65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defenses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(Krum,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Median)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spc="-25" dirty="0">
                <a:solidFill>
                  <a:srgbClr val="3D0961"/>
                </a:solidFill>
                <a:latin typeface="Sans Serif Collection"/>
                <a:cs typeface="Sans Serif Collection"/>
              </a:rPr>
              <a:t>via </a:t>
            </a:r>
            <a:r>
              <a:rPr sz="2400" spc="-20" dirty="0">
                <a:solidFill>
                  <a:srgbClr val="3D0961"/>
                </a:solidFill>
                <a:latin typeface="Sans Serif Collection"/>
                <a:cs typeface="Sans Serif Collection"/>
              </a:rPr>
              <a:t>multi-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round</a:t>
            </a:r>
            <a:r>
              <a:rPr sz="2400" spc="-75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consistency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of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dirty="0">
                <a:solidFill>
                  <a:srgbClr val="3D0961"/>
                </a:solidFill>
                <a:latin typeface="Sans Serif Collection"/>
                <a:cs typeface="Sans Serif Collection"/>
              </a:rPr>
              <a:t>malicious</a:t>
            </a:r>
            <a:r>
              <a:rPr sz="24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400" spc="-10" dirty="0">
                <a:solidFill>
                  <a:srgbClr val="3D0961"/>
                </a:solidFill>
                <a:latin typeface="Sans Serif Collection"/>
                <a:cs typeface="Sans Serif Collection"/>
              </a:rPr>
              <a:t>updates.</a:t>
            </a:r>
            <a:endParaRPr sz="2400">
              <a:latin typeface="Sans Serif Collection"/>
              <a:cs typeface="Sans Serif Collectio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741" y="7105246"/>
            <a:ext cx="561975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solidFill>
                  <a:srgbClr val="3D0961"/>
                </a:solidFill>
                <a:latin typeface="Arial"/>
                <a:cs typeface="Arial"/>
              </a:rPr>
              <a:t>[</a:t>
            </a:r>
            <a:r>
              <a:rPr sz="2350" b="1" spc="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3D0961"/>
                </a:solidFill>
                <a:latin typeface="Arial"/>
                <a:cs typeface="Arial"/>
              </a:rPr>
              <a:t>4</a:t>
            </a:r>
            <a:r>
              <a:rPr sz="2350" b="1" spc="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b="1" spc="-50" dirty="0">
                <a:solidFill>
                  <a:srgbClr val="3D0961"/>
                </a:solidFill>
                <a:latin typeface="Arial"/>
                <a:cs typeface="Arial"/>
              </a:rPr>
              <a:t>]</a:t>
            </a:r>
            <a:endParaRPr sz="2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82908" y="6827040"/>
            <a:ext cx="776541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Integrates</a:t>
            </a:r>
            <a:r>
              <a:rPr sz="23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Homomorphic</a:t>
            </a:r>
            <a:r>
              <a:rPr sz="23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Encryption</a:t>
            </a:r>
            <a:r>
              <a:rPr sz="2300" spc="-65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(FHE)</a:t>
            </a:r>
            <a:r>
              <a:rPr sz="2300" spc="-7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with</a:t>
            </a:r>
            <a:r>
              <a:rPr sz="2300" spc="-65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spc="-10" dirty="0">
                <a:solidFill>
                  <a:srgbClr val="3D0961"/>
                </a:solidFill>
                <a:latin typeface="Sans Serif Collection"/>
                <a:cs typeface="Sans Serif Collection"/>
              </a:rPr>
              <a:t>anomaly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detection</a:t>
            </a:r>
            <a:r>
              <a:rPr sz="2300" spc="-5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to</a:t>
            </a:r>
            <a:r>
              <a:rPr sz="2300" spc="-5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secure</a:t>
            </a:r>
            <a:r>
              <a:rPr sz="2300" spc="-5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models</a:t>
            </a:r>
            <a:r>
              <a:rPr sz="2300" spc="-5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dirty="0">
                <a:solidFill>
                  <a:srgbClr val="3D0961"/>
                </a:solidFill>
                <a:latin typeface="Sans Serif Collection"/>
                <a:cs typeface="Sans Serif Collection"/>
              </a:rPr>
              <a:t>against</a:t>
            </a:r>
            <a:r>
              <a:rPr sz="2300" spc="-50" dirty="0">
                <a:solidFill>
                  <a:srgbClr val="3D0961"/>
                </a:solidFill>
                <a:latin typeface="Sans Serif Collection"/>
                <a:cs typeface="Sans Serif Collection"/>
              </a:rPr>
              <a:t> </a:t>
            </a:r>
            <a:r>
              <a:rPr sz="2300" spc="-10" dirty="0">
                <a:solidFill>
                  <a:srgbClr val="3D0961"/>
                </a:solidFill>
                <a:latin typeface="Sans Serif Collection"/>
                <a:cs typeface="Sans Serif Collection"/>
              </a:rPr>
              <a:t>poisoning.</a:t>
            </a:r>
            <a:endParaRPr sz="2300">
              <a:latin typeface="Sans Serif Collection"/>
              <a:cs typeface="Sans Serif Collectio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53700" y="1898681"/>
            <a:ext cx="7495540" cy="57829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450"/>
              </a:spcBef>
            </a:pP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Software-Level</a:t>
            </a:r>
            <a:r>
              <a:rPr sz="2550" spc="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Only:</a:t>
            </a:r>
            <a:r>
              <a:rPr sz="2550" spc="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Ignores</a:t>
            </a:r>
            <a:r>
              <a:rPr sz="2550" spc="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malicious</a:t>
            </a:r>
            <a:r>
              <a:rPr sz="2550" spc="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updates</a:t>
            </a:r>
            <a:r>
              <a:rPr sz="2550" spc="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3D0961"/>
                </a:solidFill>
                <a:latin typeface="Arial"/>
                <a:cs typeface="Arial"/>
              </a:rPr>
              <a:t>but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fails</a:t>
            </a:r>
            <a:r>
              <a:rPr sz="2550" spc="2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to</a:t>
            </a:r>
            <a:r>
              <a:rPr sz="2550" spc="2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isolate</a:t>
            </a:r>
            <a:r>
              <a:rPr sz="2550" spc="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the</a:t>
            </a:r>
            <a:r>
              <a:rPr sz="2550" spc="2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attacker</a:t>
            </a:r>
            <a:r>
              <a:rPr sz="2550" spc="2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from</a:t>
            </a:r>
            <a:r>
              <a:rPr sz="2550" spc="2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D0961"/>
                </a:solidFill>
                <a:latin typeface="Arial"/>
                <a:cs typeface="Arial"/>
              </a:rPr>
              <a:t>the</a:t>
            </a:r>
            <a:r>
              <a:rPr sz="2550" spc="2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3D0961"/>
                </a:solidFill>
                <a:latin typeface="Arial"/>
                <a:cs typeface="Arial"/>
              </a:rPr>
              <a:t>network.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550">
              <a:latin typeface="Arial"/>
              <a:cs typeface="Arial"/>
            </a:endParaRPr>
          </a:p>
          <a:p>
            <a:pPr marL="12700" marR="75565">
              <a:lnSpc>
                <a:spcPct val="114100"/>
              </a:lnSpc>
            </a:pPr>
            <a:r>
              <a:rPr sz="2300" b="1" dirty="0">
                <a:solidFill>
                  <a:srgbClr val="3D0961"/>
                </a:solidFill>
                <a:latin typeface="Arial"/>
                <a:cs typeface="Arial"/>
              </a:rPr>
              <a:t>Lack</a:t>
            </a:r>
            <a:r>
              <a:rPr sz="2300" b="1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3D0961"/>
                </a:solidFill>
                <a:latin typeface="Arial"/>
                <a:cs typeface="Arial"/>
              </a:rPr>
              <a:t>of</a:t>
            </a:r>
            <a:r>
              <a:rPr sz="2300" b="1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3D0961"/>
                </a:solidFill>
                <a:latin typeface="Arial"/>
                <a:cs typeface="Arial"/>
              </a:rPr>
              <a:t>Root</a:t>
            </a:r>
            <a:r>
              <a:rPr sz="2300" b="1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3D0961"/>
                </a:solidFill>
                <a:latin typeface="Arial"/>
                <a:cs typeface="Arial"/>
              </a:rPr>
              <a:t>Mitigation:</a:t>
            </a:r>
            <a:r>
              <a:rPr sz="2300" b="1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Shows</a:t>
            </a:r>
            <a:r>
              <a:rPr sz="2300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defenses</a:t>
            </a:r>
            <a:r>
              <a:rPr sz="2300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fail</a:t>
            </a:r>
            <a:r>
              <a:rPr sz="2300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in</a:t>
            </a:r>
            <a:r>
              <a:rPr sz="2300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3D0961"/>
                </a:solidFill>
                <a:latin typeface="Arial"/>
                <a:cs typeface="Arial"/>
              </a:rPr>
              <a:t>Non-</a:t>
            </a:r>
            <a:r>
              <a:rPr sz="2300" spc="-25" dirty="0">
                <a:solidFill>
                  <a:srgbClr val="3D0961"/>
                </a:solidFill>
                <a:latin typeface="Arial"/>
                <a:cs typeface="Arial"/>
              </a:rPr>
              <a:t>IID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settings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and</a:t>
            </a:r>
            <a:r>
              <a:rPr sz="2300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cannot</a:t>
            </a:r>
            <a:r>
              <a:rPr sz="2300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disconnect</a:t>
            </a:r>
            <a:r>
              <a:rPr sz="2300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compromised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3D0961"/>
                </a:solidFill>
                <a:latin typeface="Arial"/>
                <a:cs typeface="Arial"/>
              </a:rPr>
              <a:t>nodes.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05"/>
              </a:spcBef>
            </a:pPr>
            <a:endParaRPr sz="2300">
              <a:latin typeface="Arial"/>
              <a:cs typeface="Arial"/>
            </a:endParaRPr>
          </a:p>
          <a:p>
            <a:pPr marL="12700" marR="302895">
              <a:lnSpc>
                <a:spcPct val="116500"/>
              </a:lnSpc>
            </a:pPr>
            <a:r>
              <a:rPr sz="2200" b="1" dirty="0">
                <a:solidFill>
                  <a:srgbClr val="3D0961"/>
                </a:solidFill>
                <a:latin typeface="Arial"/>
                <a:cs typeface="Arial"/>
              </a:rPr>
              <a:t>Temporal</a:t>
            </a:r>
            <a:r>
              <a:rPr sz="2200" b="1" spc="-9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D0961"/>
                </a:solidFill>
                <a:latin typeface="Arial"/>
                <a:cs typeface="Arial"/>
              </a:rPr>
              <a:t>Algorithmic</a:t>
            </a:r>
            <a:r>
              <a:rPr sz="2200" b="1" spc="-8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D0961"/>
                </a:solidFill>
                <a:latin typeface="Arial"/>
                <a:cs typeface="Arial"/>
              </a:rPr>
              <a:t>Flaws:</a:t>
            </a:r>
            <a:r>
              <a:rPr sz="2200" b="1" spc="-8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D0961"/>
                </a:solidFill>
                <a:latin typeface="Arial"/>
                <a:cs typeface="Arial"/>
              </a:rPr>
              <a:t>Filtering</a:t>
            </a:r>
            <a:r>
              <a:rPr sz="2200" spc="-8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D0961"/>
                </a:solidFill>
                <a:latin typeface="Arial"/>
                <a:cs typeface="Arial"/>
              </a:rPr>
              <a:t>decays</a:t>
            </a:r>
            <a:r>
              <a:rPr sz="2200" spc="-8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D0961"/>
                </a:solidFill>
                <a:latin typeface="Arial"/>
                <a:cs typeface="Arial"/>
              </a:rPr>
              <a:t>over</a:t>
            </a:r>
            <a:r>
              <a:rPr sz="2200" spc="-9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3D0961"/>
                </a:solidFill>
                <a:latin typeface="Arial"/>
                <a:cs typeface="Arial"/>
              </a:rPr>
              <a:t>time, </a:t>
            </a:r>
            <a:r>
              <a:rPr sz="2200" dirty="0">
                <a:solidFill>
                  <a:srgbClr val="3D0961"/>
                </a:solidFill>
                <a:latin typeface="Arial"/>
                <a:cs typeface="Arial"/>
              </a:rPr>
              <a:t>highlighting</a:t>
            </a:r>
            <a:r>
              <a:rPr sz="2200" spc="-7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D0961"/>
                </a:solidFill>
                <a:latin typeface="Arial"/>
                <a:cs typeface="Arial"/>
              </a:rPr>
              <a:t>the</a:t>
            </a:r>
            <a:r>
              <a:rPr sz="2200" spc="-7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D0961"/>
                </a:solidFill>
                <a:latin typeface="Arial"/>
                <a:cs typeface="Arial"/>
              </a:rPr>
              <a:t>critical</a:t>
            </a:r>
            <a:r>
              <a:rPr sz="2200" spc="-7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D0961"/>
                </a:solidFill>
                <a:latin typeface="Arial"/>
                <a:cs typeface="Arial"/>
              </a:rPr>
              <a:t>need</a:t>
            </a:r>
            <a:r>
              <a:rPr sz="2200" spc="-7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D0961"/>
                </a:solidFill>
                <a:latin typeface="Arial"/>
                <a:cs typeface="Arial"/>
              </a:rPr>
              <a:t>for</a:t>
            </a:r>
            <a:r>
              <a:rPr sz="2200" spc="-6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D0961"/>
                </a:solidFill>
                <a:latin typeface="Arial"/>
                <a:cs typeface="Arial"/>
              </a:rPr>
              <a:t>Proactive</a:t>
            </a:r>
            <a:r>
              <a:rPr sz="2200" b="1" spc="-7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3D0961"/>
                </a:solidFill>
                <a:latin typeface="Arial"/>
                <a:cs typeface="Arial"/>
              </a:rPr>
              <a:t>Network Isolation</a:t>
            </a:r>
            <a:r>
              <a:rPr sz="2200" spc="-10" dirty="0">
                <a:solidFill>
                  <a:srgbClr val="3D0961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200">
              <a:latin typeface="Arial"/>
              <a:cs typeface="Arial"/>
            </a:endParaRPr>
          </a:p>
          <a:p>
            <a:pPr marL="12700" marR="90805">
              <a:lnSpc>
                <a:spcPct val="114100"/>
              </a:lnSpc>
            </a:pPr>
            <a:r>
              <a:rPr sz="2300" b="1" dirty="0">
                <a:solidFill>
                  <a:srgbClr val="3D0961"/>
                </a:solidFill>
                <a:latin typeface="Arial"/>
                <a:cs typeface="Arial"/>
              </a:rPr>
              <a:t>No</a:t>
            </a:r>
            <a:r>
              <a:rPr sz="2300" b="1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3D0961"/>
                </a:solidFill>
                <a:latin typeface="Arial"/>
                <a:cs typeface="Arial"/>
              </a:rPr>
              <a:t>Active</a:t>
            </a:r>
            <a:r>
              <a:rPr sz="2300" b="1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3D0961"/>
                </a:solidFill>
                <a:latin typeface="Arial"/>
                <a:cs typeface="Arial"/>
              </a:rPr>
              <a:t>Deterrence:</a:t>
            </a:r>
            <a:r>
              <a:rPr sz="2300" b="1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Lacks</a:t>
            </a:r>
            <a:r>
              <a:rPr sz="2300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a</a:t>
            </a:r>
            <a:r>
              <a:rPr sz="2300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mechanism</a:t>
            </a:r>
            <a:r>
              <a:rPr sz="2300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to</a:t>
            </a:r>
            <a:r>
              <a:rPr sz="2300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3D0961"/>
                </a:solidFill>
                <a:latin typeface="Arial"/>
                <a:cs typeface="Arial"/>
              </a:rPr>
              <a:t>physically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evict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or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isolate</a:t>
            </a:r>
            <a:r>
              <a:rPr sz="2300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persistently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malicious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3D0961"/>
                </a:solidFill>
                <a:latin typeface="Arial"/>
                <a:cs typeface="Arial"/>
              </a:rPr>
              <a:t>nodes.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1741" y="9030187"/>
            <a:ext cx="561975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solidFill>
                  <a:srgbClr val="3D0961"/>
                </a:solidFill>
                <a:latin typeface="Arial"/>
                <a:cs typeface="Arial"/>
              </a:rPr>
              <a:t>[</a:t>
            </a:r>
            <a:r>
              <a:rPr sz="2350" b="1" spc="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3D0961"/>
                </a:solidFill>
                <a:latin typeface="Arial"/>
                <a:cs typeface="Arial"/>
              </a:rPr>
              <a:t>5</a:t>
            </a:r>
            <a:r>
              <a:rPr sz="2350" b="1" spc="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b="1" spc="-50" dirty="0">
                <a:solidFill>
                  <a:srgbClr val="3D0961"/>
                </a:solidFill>
                <a:latin typeface="Arial"/>
                <a:cs typeface="Arial"/>
              </a:rPr>
              <a:t>]</a:t>
            </a:r>
            <a:endParaRPr sz="2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82908" y="8763410"/>
            <a:ext cx="7265670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95"/>
              </a:spcBef>
            </a:pPr>
            <a:r>
              <a:rPr sz="2350" dirty="0">
                <a:solidFill>
                  <a:srgbClr val="3D0961"/>
                </a:solidFill>
                <a:latin typeface="Arial"/>
                <a:cs typeface="Arial"/>
              </a:rPr>
              <a:t>Systematic review of defense architectures</a:t>
            </a:r>
            <a:r>
              <a:rPr sz="2350" spc="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3D0961"/>
                </a:solidFill>
                <a:latin typeface="Arial"/>
                <a:cs typeface="Arial"/>
              </a:rPr>
              <a:t>and</a:t>
            </a:r>
            <a:r>
              <a:rPr sz="2350" spc="-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3D0961"/>
                </a:solidFill>
                <a:latin typeface="Arial"/>
                <a:cs typeface="Arial"/>
              </a:rPr>
              <a:t>robust </a:t>
            </a:r>
            <a:r>
              <a:rPr sz="2350" dirty="0">
                <a:solidFill>
                  <a:srgbClr val="3D0961"/>
                </a:solidFill>
                <a:latin typeface="Arial"/>
                <a:cs typeface="Arial"/>
              </a:rPr>
              <a:t>aggregation</a:t>
            </a:r>
            <a:r>
              <a:rPr sz="2350" spc="-1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3D0961"/>
                </a:solidFill>
                <a:latin typeface="Arial"/>
                <a:cs typeface="Arial"/>
              </a:rPr>
              <a:t>in</a:t>
            </a:r>
            <a:r>
              <a:rPr sz="2350" spc="-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3D0961"/>
                </a:solidFill>
                <a:latin typeface="Arial"/>
                <a:cs typeface="Arial"/>
              </a:rPr>
              <a:t>large-</a:t>
            </a:r>
            <a:r>
              <a:rPr sz="2350" dirty="0">
                <a:solidFill>
                  <a:srgbClr val="3D0961"/>
                </a:solidFill>
                <a:latin typeface="Arial"/>
                <a:cs typeface="Arial"/>
              </a:rPr>
              <a:t>scale</a:t>
            </a:r>
            <a:r>
              <a:rPr sz="2350" spc="-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3D0961"/>
                </a:solidFill>
                <a:latin typeface="Arial"/>
                <a:cs typeface="Arial"/>
              </a:rPr>
              <a:t>enterprise</a:t>
            </a:r>
            <a:r>
              <a:rPr sz="2350" spc="-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3D0961"/>
                </a:solidFill>
                <a:latin typeface="Arial"/>
                <a:cs typeface="Arial"/>
              </a:rPr>
              <a:t>systems.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19050"/>
            <a:ext cx="18288000" cy="10248900"/>
          </a:xfrm>
          <a:custGeom>
            <a:avLst/>
            <a:gdLst/>
            <a:ahLst/>
            <a:cxnLst/>
            <a:rect l="l" t="t" r="r" b="b"/>
            <a:pathLst>
              <a:path w="18288000" h="10248900">
                <a:moveTo>
                  <a:pt x="19049" y="19049"/>
                </a:moveTo>
                <a:lnTo>
                  <a:pt x="19049" y="10229849"/>
                </a:lnTo>
              </a:path>
              <a:path w="18288000" h="10248900">
                <a:moveTo>
                  <a:pt x="1586058" y="19049"/>
                </a:moveTo>
                <a:lnTo>
                  <a:pt x="1586058" y="10229849"/>
                </a:lnTo>
              </a:path>
              <a:path w="18288000" h="10248900">
                <a:moveTo>
                  <a:pt x="10356849" y="19049"/>
                </a:moveTo>
                <a:lnTo>
                  <a:pt x="10356849" y="10229849"/>
                </a:lnTo>
              </a:path>
              <a:path w="18288000" h="10248900">
                <a:moveTo>
                  <a:pt x="18268948" y="19049"/>
                </a:moveTo>
                <a:lnTo>
                  <a:pt x="18268948" y="10229849"/>
                </a:lnTo>
              </a:path>
              <a:path w="18288000" h="10248900">
                <a:moveTo>
                  <a:pt x="0" y="0"/>
                </a:moveTo>
                <a:lnTo>
                  <a:pt x="18287998" y="0"/>
                </a:lnTo>
              </a:path>
              <a:path w="18288000" h="10248900">
                <a:moveTo>
                  <a:pt x="0" y="1514474"/>
                </a:moveTo>
                <a:lnTo>
                  <a:pt x="18287998" y="1514474"/>
                </a:lnTo>
              </a:path>
              <a:path w="18288000" h="10248900">
                <a:moveTo>
                  <a:pt x="0" y="3083158"/>
                </a:moveTo>
                <a:lnTo>
                  <a:pt x="18287998" y="3083158"/>
                </a:lnTo>
              </a:path>
              <a:path w="18288000" h="10248900">
                <a:moveTo>
                  <a:pt x="0" y="4723933"/>
                </a:moveTo>
                <a:lnTo>
                  <a:pt x="18287998" y="4723933"/>
                </a:lnTo>
              </a:path>
              <a:path w="18288000" h="10248900">
                <a:moveTo>
                  <a:pt x="0" y="6381282"/>
                </a:moveTo>
                <a:lnTo>
                  <a:pt x="18287998" y="6381282"/>
                </a:lnTo>
              </a:path>
              <a:path w="18288000" h="10248900">
                <a:moveTo>
                  <a:pt x="0" y="8201448"/>
                </a:moveTo>
                <a:lnTo>
                  <a:pt x="18287998" y="8201448"/>
                </a:lnTo>
              </a:path>
              <a:path w="18288000" h="10248900">
                <a:moveTo>
                  <a:pt x="0" y="10248899"/>
                </a:moveTo>
                <a:lnTo>
                  <a:pt x="18287998" y="102488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0553700" y="8794555"/>
            <a:ext cx="7037070" cy="8140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90"/>
              </a:spcBef>
            </a:pP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Systematic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review</a:t>
            </a:r>
            <a:r>
              <a:rPr sz="2300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of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defense</a:t>
            </a:r>
            <a:r>
              <a:rPr sz="2300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architectures</a:t>
            </a:r>
            <a:r>
              <a:rPr sz="2300" spc="-4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and</a:t>
            </a:r>
            <a:r>
              <a:rPr sz="2300" spc="-4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3D0961"/>
                </a:solidFill>
                <a:latin typeface="Arial"/>
                <a:cs typeface="Arial"/>
              </a:rPr>
              <a:t>robust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aggregation</a:t>
            </a:r>
            <a:r>
              <a:rPr sz="2300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in</a:t>
            </a:r>
            <a:r>
              <a:rPr sz="2300" spc="-35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3D0961"/>
                </a:solidFill>
                <a:latin typeface="Arial"/>
                <a:cs typeface="Arial"/>
              </a:rPr>
              <a:t>large-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scale</a:t>
            </a:r>
            <a:r>
              <a:rPr sz="2300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enterprise</a:t>
            </a:r>
            <a:r>
              <a:rPr sz="2300" spc="-30" dirty="0">
                <a:solidFill>
                  <a:srgbClr val="3D0961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3D0961"/>
                </a:solidFill>
                <a:latin typeface="Arial"/>
                <a:cs typeface="Arial"/>
              </a:rPr>
              <a:t>systems.</a:t>
            </a:r>
            <a:r>
              <a:rPr sz="2300" spc="-25" dirty="0">
                <a:solidFill>
                  <a:srgbClr val="3D0961"/>
                </a:solidFill>
                <a:latin typeface="Arial"/>
                <a:cs typeface="Arial"/>
              </a:rPr>
              <a:t>  </a:t>
            </a:r>
            <a:r>
              <a:rPr sz="2400" spc="-10" dirty="0">
                <a:solidFill>
                  <a:srgbClr val="731B9E"/>
                </a:solidFill>
                <a:latin typeface="Century Gothic"/>
                <a:cs typeface="Century Gothic"/>
              </a:rPr>
              <a:t>12/05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131883" y="298338"/>
            <a:ext cx="63563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50" dirty="0">
                <a:solidFill>
                  <a:srgbClr val="731B9E"/>
                </a:solidFill>
                <a:latin typeface="Century Gothic"/>
                <a:cs typeface="Century Gothic"/>
              </a:rPr>
              <a:t>10/3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3755" y="1601835"/>
            <a:ext cx="16501110" cy="801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10"/>
              </a:lnSpc>
            </a:pPr>
            <a:r>
              <a:rPr sz="3600" b="1" spc="295" dirty="0">
                <a:solidFill>
                  <a:srgbClr val="731B9E"/>
                </a:solidFill>
                <a:latin typeface="Calibri"/>
                <a:cs typeface="Calibri"/>
              </a:rPr>
              <a:t>Vulnerabilities</a:t>
            </a:r>
            <a:r>
              <a:rPr sz="3600" b="1" spc="55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731B9E"/>
                </a:solidFill>
                <a:latin typeface="Calibri"/>
                <a:cs typeface="Calibri"/>
              </a:rPr>
              <a:t>&amp;</a:t>
            </a:r>
            <a:r>
              <a:rPr sz="3600" b="1" spc="60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600" b="1" spc="395" dirty="0">
                <a:solidFill>
                  <a:srgbClr val="731B9E"/>
                </a:solidFill>
                <a:latin typeface="Calibri"/>
                <a:cs typeface="Calibri"/>
              </a:rPr>
              <a:t>Problem</a:t>
            </a:r>
            <a:r>
              <a:rPr sz="3600" b="1" spc="55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600" b="1" spc="325" dirty="0">
                <a:solidFill>
                  <a:srgbClr val="731B9E"/>
                </a:solidFill>
                <a:latin typeface="Calibri"/>
                <a:cs typeface="Calibri"/>
              </a:rPr>
              <a:t>Statement: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85"/>
              </a:spcBef>
            </a:pPr>
            <a:endParaRPr sz="360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731B9E"/>
                </a:solidFill>
                <a:latin typeface="Century Gothic"/>
                <a:cs typeface="Century Gothic"/>
              </a:rPr>
              <a:t>12/04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28699" y="3495098"/>
            <a:ext cx="202565" cy="4536440"/>
            <a:chOff x="1028699" y="3495098"/>
            <a:chExt cx="202565" cy="4536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8622" y="3495098"/>
              <a:ext cx="133349" cy="1333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5717889"/>
              <a:ext cx="133349" cy="133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7628" y="7897993"/>
              <a:ext cx="133349" cy="1333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86867" y="3262148"/>
            <a:ext cx="7677784" cy="54698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15"/>
              </a:spcBef>
            </a:pPr>
            <a:r>
              <a:rPr sz="3500" spc="-30" dirty="0">
                <a:solidFill>
                  <a:srgbClr val="3D0961"/>
                </a:solidFill>
                <a:latin typeface="Century Gothic"/>
                <a:cs typeface="Century Gothic"/>
              </a:rPr>
              <a:t>The</a:t>
            </a:r>
            <a:r>
              <a:rPr sz="3500" spc="-38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500" spc="60" dirty="0">
                <a:solidFill>
                  <a:srgbClr val="3D0961"/>
                </a:solidFill>
                <a:latin typeface="Century Gothic"/>
                <a:cs typeface="Century Gothic"/>
              </a:rPr>
              <a:t>"Blind"</a:t>
            </a:r>
            <a:r>
              <a:rPr sz="3500" spc="-37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500" spc="-204" dirty="0">
                <a:solidFill>
                  <a:srgbClr val="3D0961"/>
                </a:solidFill>
                <a:latin typeface="Century Gothic"/>
                <a:cs typeface="Century Gothic"/>
              </a:rPr>
              <a:t>Aggregator</a:t>
            </a:r>
            <a:r>
              <a:rPr sz="3500" spc="-37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500" spc="-70" dirty="0">
                <a:solidFill>
                  <a:srgbClr val="3D0961"/>
                </a:solidFill>
                <a:latin typeface="Century Gothic"/>
                <a:cs typeface="Century Gothic"/>
              </a:rPr>
              <a:t>Challenge</a:t>
            </a:r>
            <a:endParaRPr sz="3500">
              <a:latin typeface="Century Gothic"/>
              <a:cs typeface="Century Gothic"/>
            </a:endParaRPr>
          </a:p>
          <a:p>
            <a:pPr marL="60960">
              <a:lnSpc>
                <a:spcPct val="100000"/>
              </a:lnSpc>
              <a:spcBef>
                <a:spcPts val="2135"/>
              </a:spcBef>
            </a:pP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Cannot</a:t>
            </a:r>
            <a:r>
              <a:rPr sz="2550" spc="-7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60" dirty="0">
                <a:solidFill>
                  <a:srgbClr val="59708B"/>
                </a:solidFill>
                <a:latin typeface="Century Gothic"/>
                <a:cs typeface="Century Gothic"/>
              </a:rPr>
              <a:t>verify</a:t>
            </a:r>
            <a:r>
              <a:rPr sz="2550" spc="-7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local</a:t>
            </a:r>
            <a:r>
              <a:rPr sz="2550" spc="-7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-50" dirty="0">
                <a:solidFill>
                  <a:srgbClr val="59708B"/>
                </a:solidFill>
                <a:latin typeface="Century Gothic"/>
                <a:cs typeface="Century Gothic"/>
              </a:rPr>
              <a:t>data</a:t>
            </a:r>
            <a:r>
              <a:rPr sz="2550" spc="-7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90" dirty="0">
                <a:solidFill>
                  <a:srgbClr val="59708B"/>
                </a:solidFill>
                <a:latin typeface="Century Gothic"/>
                <a:cs typeface="Century Gothic"/>
              </a:rPr>
              <a:t>integrity</a:t>
            </a:r>
            <a:endParaRPr sz="25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5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5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3500" spc="-30" dirty="0">
                <a:solidFill>
                  <a:srgbClr val="3D0961"/>
                </a:solidFill>
                <a:latin typeface="Century Gothic"/>
                <a:cs typeface="Century Gothic"/>
              </a:rPr>
              <a:t>The</a:t>
            </a:r>
            <a:r>
              <a:rPr sz="3500" spc="-37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500" spc="-114" dirty="0">
                <a:solidFill>
                  <a:srgbClr val="3D0961"/>
                </a:solidFill>
                <a:latin typeface="Century Gothic"/>
                <a:cs typeface="Century Gothic"/>
              </a:rPr>
              <a:t>Sneaky</a:t>
            </a:r>
            <a:r>
              <a:rPr sz="3500" spc="-37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500" spc="-10" dirty="0">
                <a:solidFill>
                  <a:srgbClr val="3D0961"/>
                </a:solidFill>
                <a:latin typeface="Century Gothic"/>
                <a:cs typeface="Century Gothic"/>
              </a:rPr>
              <a:t>Collusion</a:t>
            </a:r>
            <a:endParaRPr sz="3500">
              <a:latin typeface="Century Gothic"/>
              <a:cs typeface="Century Gothic"/>
            </a:endParaRPr>
          </a:p>
          <a:p>
            <a:pPr marL="71755">
              <a:lnSpc>
                <a:spcPct val="100000"/>
              </a:lnSpc>
              <a:spcBef>
                <a:spcPts val="910"/>
              </a:spcBef>
            </a:pPr>
            <a:r>
              <a:rPr sz="2550" spc="-10" dirty="0">
                <a:solidFill>
                  <a:srgbClr val="59708B"/>
                </a:solidFill>
                <a:latin typeface="Century Gothic"/>
                <a:cs typeface="Century Gothic"/>
              </a:rPr>
              <a:t>Cooperating</a:t>
            </a:r>
            <a:r>
              <a:rPr sz="2550" spc="12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nodes</a:t>
            </a:r>
            <a:r>
              <a:rPr sz="2550" spc="12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bypass</a:t>
            </a:r>
            <a:r>
              <a:rPr sz="2550" spc="13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standard</a:t>
            </a:r>
            <a:r>
              <a:rPr sz="2550" spc="13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-10" dirty="0">
                <a:solidFill>
                  <a:srgbClr val="59708B"/>
                </a:solidFill>
                <a:latin typeface="Century Gothic"/>
                <a:cs typeface="Century Gothic"/>
              </a:rPr>
              <a:t>detection.</a:t>
            </a:r>
            <a:endParaRPr sz="25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5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745"/>
              </a:spcBef>
            </a:pPr>
            <a:endParaRPr sz="2550">
              <a:latin typeface="Century Gothic"/>
              <a:cs typeface="Century Gothic"/>
            </a:endParaRPr>
          </a:p>
          <a:p>
            <a:pPr marL="64769">
              <a:lnSpc>
                <a:spcPct val="100000"/>
              </a:lnSpc>
            </a:pPr>
            <a:r>
              <a:rPr sz="3500" spc="-114" dirty="0">
                <a:solidFill>
                  <a:srgbClr val="3D0961"/>
                </a:solidFill>
                <a:latin typeface="Century Gothic"/>
                <a:cs typeface="Century Gothic"/>
              </a:rPr>
              <a:t>Software-</a:t>
            </a:r>
            <a:r>
              <a:rPr sz="3500" spc="-185" dirty="0">
                <a:solidFill>
                  <a:srgbClr val="3D0961"/>
                </a:solidFill>
                <a:latin typeface="Century Gothic"/>
                <a:cs typeface="Century Gothic"/>
              </a:rPr>
              <a:t>Level</a:t>
            </a:r>
            <a:r>
              <a:rPr sz="3500" spc="-33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500" spc="-75" dirty="0">
                <a:solidFill>
                  <a:srgbClr val="3D0961"/>
                </a:solidFill>
                <a:latin typeface="Century Gothic"/>
                <a:cs typeface="Century Gothic"/>
              </a:rPr>
              <a:t>Mitigation</a:t>
            </a:r>
            <a:r>
              <a:rPr sz="3500" spc="-32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500" spc="-285" dirty="0">
                <a:solidFill>
                  <a:srgbClr val="3D0961"/>
                </a:solidFill>
                <a:latin typeface="Century Gothic"/>
                <a:cs typeface="Century Gothic"/>
              </a:rPr>
              <a:t>Gaps</a:t>
            </a:r>
            <a:endParaRPr sz="3500">
              <a:latin typeface="Century Gothic"/>
              <a:cs typeface="Century Gothic"/>
            </a:endParaRPr>
          </a:p>
          <a:p>
            <a:pPr marL="79375">
              <a:lnSpc>
                <a:spcPct val="100000"/>
              </a:lnSpc>
              <a:spcBef>
                <a:spcPts val="919"/>
              </a:spcBef>
            </a:pP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Attackers</a:t>
            </a:r>
            <a:r>
              <a:rPr sz="2550" spc="8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stay</a:t>
            </a:r>
            <a:r>
              <a:rPr sz="2550" spc="9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-45" dirty="0">
                <a:solidFill>
                  <a:srgbClr val="59708B"/>
                </a:solidFill>
                <a:latin typeface="Century Gothic"/>
                <a:cs typeface="Century Gothic"/>
              </a:rPr>
              <a:t>connected,</a:t>
            </a:r>
            <a:r>
              <a:rPr sz="2550" spc="9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75" dirty="0">
                <a:solidFill>
                  <a:srgbClr val="59708B"/>
                </a:solidFill>
                <a:latin typeface="Century Gothic"/>
                <a:cs typeface="Century Gothic"/>
              </a:rPr>
              <a:t>draining</a:t>
            </a:r>
            <a:r>
              <a:rPr sz="2550" spc="9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35" dirty="0">
                <a:solidFill>
                  <a:srgbClr val="59708B"/>
                </a:solidFill>
                <a:latin typeface="Century Gothic"/>
                <a:cs typeface="Century Gothic"/>
              </a:rPr>
              <a:t>resources</a:t>
            </a:r>
            <a:endParaRPr sz="2550">
              <a:latin typeface="Century Gothic"/>
              <a:cs typeface="Century Gothic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18309" y="1661728"/>
            <a:ext cx="7374890" cy="492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50" spc="254" dirty="0">
                <a:solidFill>
                  <a:srgbClr val="731B9E"/>
                </a:solidFill>
              </a:rPr>
              <a:t>Vulnerabilities</a:t>
            </a:r>
            <a:r>
              <a:rPr sz="3050" spc="55" dirty="0">
                <a:solidFill>
                  <a:srgbClr val="731B9E"/>
                </a:solidFill>
              </a:rPr>
              <a:t> </a:t>
            </a:r>
            <a:r>
              <a:rPr sz="3050" dirty="0">
                <a:solidFill>
                  <a:srgbClr val="731B9E"/>
                </a:solidFill>
              </a:rPr>
              <a:t>&amp;</a:t>
            </a:r>
            <a:r>
              <a:rPr sz="3050" spc="55" dirty="0">
                <a:solidFill>
                  <a:srgbClr val="731B9E"/>
                </a:solidFill>
              </a:rPr>
              <a:t> </a:t>
            </a:r>
            <a:r>
              <a:rPr sz="3050" spc="345" dirty="0">
                <a:solidFill>
                  <a:srgbClr val="731B9E"/>
                </a:solidFill>
              </a:rPr>
              <a:t>Problem</a:t>
            </a:r>
            <a:r>
              <a:rPr sz="3050" spc="55" dirty="0">
                <a:solidFill>
                  <a:srgbClr val="731B9E"/>
                </a:solidFill>
              </a:rPr>
              <a:t> </a:t>
            </a:r>
            <a:r>
              <a:rPr sz="3050" spc="335" dirty="0">
                <a:solidFill>
                  <a:srgbClr val="731B9E"/>
                </a:solidFill>
              </a:rPr>
              <a:t>Statement</a:t>
            </a:r>
            <a:r>
              <a:rPr sz="3050" spc="60" dirty="0">
                <a:solidFill>
                  <a:srgbClr val="731B9E"/>
                </a:solidFill>
              </a:rPr>
              <a:t> </a:t>
            </a:r>
            <a:r>
              <a:rPr sz="3050" spc="-50" dirty="0">
                <a:solidFill>
                  <a:srgbClr val="731B9E"/>
                </a:solidFill>
              </a:rPr>
              <a:t>:</a:t>
            </a:r>
            <a:endParaRPr sz="3050"/>
          </a:p>
        </p:txBody>
      </p:sp>
      <p:sp>
        <p:nvSpPr>
          <p:cNvPr id="10" name="object 10"/>
          <p:cNvSpPr txBox="1"/>
          <p:nvPr/>
        </p:nvSpPr>
        <p:spPr>
          <a:xfrm>
            <a:off x="16131883" y="298338"/>
            <a:ext cx="63754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45" dirty="0">
                <a:solidFill>
                  <a:srgbClr val="731B9E"/>
                </a:solidFill>
                <a:latin typeface="Century Gothic"/>
                <a:cs typeface="Century Gothic"/>
              </a:rPr>
              <a:t>10/4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1468" y="1161408"/>
            <a:ext cx="8396605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b="1" spc="335" dirty="0">
                <a:solidFill>
                  <a:srgbClr val="731B9E"/>
                </a:solidFill>
                <a:latin typeface="Calibri"/>
                <a:cs typeface="Calibri"/>
              </a:rPr>
              <a:t>Proposed</a:t>
            </a:r>
            <a:r>
              <a:rPr sz="3100" b="1" spc="80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100" b="1" spc="315" dirty="0">
                <a:solidFill>
                  <a:srgbClr val="731B9E"/>
                </a:solidFill>
                <a:latin typeface="Calibri"/>
                <a:cs typeface="Calibri"/>
              </a:rPr>
              <a:t>Solution</a:t>
            </a:r>
            <a:r>
              <a:rPr sz="3100" b="1" spc="85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100" b="1" spc="315" dirty="0">
                <a:solidFill>
                  <a:srgbClr val="731B9E"/>
                </a:solidFill>
                <a:latin typeface="Calibri"/>
                <a:cs typeface="Calibri"/>
              </a:rPr>
              <a:t>&amp;Automated</a:t>
            </a:r>
            <a:r>
              <a:rPr sz="3100" b="1" spc="85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100" b="1" spc="265" dirty="0">
                <a:solidFill>
                  <a:srgbClr val="731B9E"/>
                </a:solidFill>
                <a:latin typeface="Calibri"/>
                <a:cs typeface="Calibri"/>
              </a:rPr>
              <a:t>Isolation</a:t>
            </a:r>
            <a:r>
              <a:rPr sz="3100" b="1" spc="85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100" b="1" spc="-50" dirty="0">
                <a:solidFill>
                  <a:srgbClr val="731B9E"/>
                </a:solidFill>
                <a:latin typeface="Calibri"/>
                <a:cs typeface="Calibri"/>
              </a:rPr>
              <a:t>: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6068" y="2104728"/>
            <a:ext cx="8074025" cy="1694180"/>
          </a:xfrm>
          <a:prstGeom prst="rect">
            <a:avLst/>
          </a:prstGeom>
        </p:spPr>
        <p:txBody>
          <a:bodyPr vert="horz" wrap="square" lIns="0" tIns="274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60"/>
              </a:spcBef>
            </a:pPr>
            <a:r>
              <a:rPr sz="3600" b="1" spc="-82" baseline="9259" dirty="0">
                <a:solidFill>
                  <a:srgbClr val="653293"/>
                </a:solidFill>
                <a:latin typeface="Calibri"/>
                <a:cs typeface="Calibri"/>
              </a:rPr>
              <a:t>1-</a:t>
            </a:r>
            <a:r>
              <a:rPr sz="3600" b="1" spc="-187" baseline="9259" dirty="0">
                <a:solidFill>
                  <a:srgbClr val="653293"/>
                </a:solidFill>
                <a:latin typeface="Calibri"/>
                <a:cs typeface="Calibri"/>
              </a:rPr>
              <a:t> </a:t>
            </a:r>
            <a:r>
              <a:rPr sz="3300" spc="-155" dirty="0">
                <a:solidFill>
                  <a:srgbClr val="3D0961"/>
                </a:solidFill>
                <a:latin typeface="Century Gothic"/>
                <a:cs typeface="Century Gothic"/>
              </a:rPr>
              <a:t>Detection</a:t>
            </a:r>
            <a:r>
              <a:rPr sz="3300" spc="-35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300" spc="-55" dirty="0">
                <a:solidFill>
                  <a:srgbClr val="3D0961"/>
                </a:solidFill>
                <a:latin typeface="Century Gothic"/>
                <a:cs typeface="Century Gothic"/>
              </a:rPr>
              <a:t>Algorithm:</a:t>
            </a:r>
            <a:r>
              <a:rPr sz="3300" spc="-35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300" spc="-45" dirty="0">
                <a:solidFill>
                  <a:srgbClr val="3D0961"/>
                </a:solidFill>
                <a:latin typeface="Century Gothic"/>
                <a:cs typeface="Century Gothic"/>
              </a:rPr>
              <a:t>CBDF</a:t>
            </a:r>
            <a:r>
              <a:rPr sz="3300" spc="-35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300" spc="-10" dirty="0">
                <a:solidFill>
                  <a:srgbClr val="3D0961"/>
                </a:solidFill>
                <a:latin typeface="Century Gothic"/>
                <a:cs typeface="Century Gothic"/>
              </a:rPr>
              <a:t>Framework</a:t>
            </a:r>
            <a:endParaRPr sz="3300">
              <a:latin typeface="Century Gothic"/>
              <a:cs typeface="Century Gothic"/>
            </a:endParaRPr>
          </a:p>
          <a:p>
            <a:pPr marL="414655" marR="30480">
              <a:lnSpc>
                <a:spcPct val="78400"/>
              </a:lnSpc>
              <a:spcBef>
                <a:spcPts val="2310"/>
              </a:spcBef>
            </a:pP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Detecting</a:t>
            </a:r>
            <a:r>
              <a:rPr sz="2550" spc="5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60" dirty="0">
                <a:solidFill>
                  <a:srgbClr val="59708B"/>
                </a:solidFill>
                <a:latin typeface="Century Gothic"/>
                <a:cs typeface="Century Gothic"/>
              </a:rPr>
              <a:t>colluding</a:t>
            </a:r>
            <a:r>
              <a:rPr sz="2550" spc="5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85" dirty="0">
                <a:solidFill>
                  <a:srgbClr val="59708B"/>
                </a:solidFill>
                <a:latin typeface="Century Gothic"/>
                <a:cs typeface="Century Gothic"/>
              </a:rPr>
              <a:t>malicious</a:t>
            </a:r>
            <a:r>
              <a:rPr sz="2550" spc="5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nodes</a:t>
            </a:r>
            <a:r>
              <a:rPr sz="2550" spc="6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via</a:t>
            </a:r>
            <a:r>
              <a:rPr sz="2550" spc="5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-10" dirty="0">
                <a:solidFill>
                  <a:srgbClr val="59708B"/>
                </a:solidFill>
                <a:latin typeface="Century Gothic"/>
                <a:cs typeface="Century Gothic"/>
              </a:rPr>
              <a:t>clique </a:t>
            </a:r>
            <a:r>
              <a:rPr sz="2550" spc="55" dirty="0">
                <a:solidFill>
                  <a:srgbClr val="59708B"/>
                </a:solidFill>
                <a:latin typeface="Century Gothic"/>
                <a:cs typeface="Century Gothic"/>
              </a:rPr>
              <a:t>analysis</a:t>
            </a:r>
            <a:endParaRPr sz="25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729" y="4273711"/>
            <a:ext cx="8608695" cy="4493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3600" b="1" spc="284" baseline="10416" dirty="0">
                <a:solidFill>
                  <a:srgbClr val="653293"/>
                </a:solidFill>
                <a:latin typeface="Calibri"/>
                <a:cs typeface="Calibri"/>
              </a:rPr>
              <a:t>2-</a:t>
            </a:r>
            <a:r>
              <a:rPr sz="3600" b="1" spc="547" baseline="10416" dirty="0">
                <a:solidFill>
                  <a:srgbClr val="653293"/>
                </a:solidFill>
                <a:latin typeface="Calibri"/>
                <a:cs typeface="Calibri"/>
              </a:rPr>
              <a:t> </a:t>
            </a:r>
            <a:r>
              <a:rPr sz="3300" spc="-125" dirty="0">
                <a:solidFill>
                  <a:srgbClr val="3D0961"/>
                </a:solidFill>
                <a:latin typeface="Century Gothic"/>
                <a:cs typeface="Century Gothic"/>
              </a:rPr>
              <a:t>Proposed</a:t>
            </a:r>
            <a:r>
              <a:rPr sz="3300" spc="-36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300" dirty="0">
                <a:solidFill>
                  <a:srgbClr val="3D0961"/>
                </a:solidFill>
                <a:latin typeface="Century Gothic"/>
                <a:cs typeface="Century Gothic"/>
              </a:rPr>
              <a:t>Solution</a:t>
            </a:r>
            <a:r>
              <a:rPr sz="3300" spc="-36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300" spc="-50" dirty="0">
                <a:solidFill>
                  <a:srgbClr val="3D0961"/>
                </a:solidFill>
                <a:latin typeface="Century Gothic"/>
                <a:cs typeface="Century Gothic"/>
              </a:rPr>
              <a:t>:</a:t>
            </a:r>
            <a:endParaRPr sz="3300">
              <a:latin typeface="Century Gothic"/>
              <a:cs typeface="Century Gothic"/>
            </a:endParaRPr>
          </a:p>
          <a:p>
            <a:pPr marL="461009">
              <a:lnSpc>
                <a:spcPct val="100000"/>
              </a:lnSpc>
              <a:spcBef>
                <a:spcPts val="204"/>
              </a:spcBef>
            </a:pPr>
            <a:r>
              <a:rPr sz="3300" spc="-155" dirty="0">
                <a:solidFill>
                  <a:srgbClr val="3D0961"/>
                </a:solidFill>
                <a:latin typeface="Century Gothic"/>
                <a:cs typeface="Century Gothic"/>
              </a:rPr>
              <a:t>Automated</a:t>
            </a:r>
            <a:r>
              <a:rPr sz="3300" spc="-30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300" spc="-80" dirty="0">
                <a:solidFill>
                  <a:srgbClr val="3D0961"/>
                </a:solidFill>
                <a:latin typeface="Century Gothic"/>
                <a:cs typeface="Century Gothic"/>
              </a:rPr>
              <a:t>Network-</a:t>
            </a:r>
            <a:r>
              <a:rPr sz="3300" spc="-180" dirty="0">
                <a:solidFill>
                  <a:srgbClr val="3D0961"/>
                </a:solidFill>
                <a:latin typeface="Century Gothic"/>
                <a:cs typeface="Century Gothic"/>
              </a:rPr>
              <a:t>Level</a:t>
            </a:r>
            <a:r>
              <a:rPr sz="3300" spc="-29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300" spc="-10" dirty="0">
                <a:solidFill>
                  <a:srgbClr val="3D0961"/>
                </a:solidFill>
                <a:latin typeface="Century Gothic"/>
                <a:cs typeface="Century Gothic"/>
              </a:rPr>
              <a:t>Isolation</a:t>
            </a:r>
            <a:endParaRPr sz="3300">
              <a:latin typeface="Century Gothic"/>
              <a:cs typeface="Century Gothic"/>
            </a:endParaRPr>
          </a:p>
          <a:p>
            <a:pPr marL="457834" marR="1294765">
              <a:lnSpc>
                <a:spcPts val="2780"/>
              </a:lnSpc>
              <a:spcBef>
                <a:spcPts val="1525"/>
              </a:spcBef>
            </a:pPr>
            <a:r>
              <a:rPr sz="2550" spc="114" dirty="0">
                <a:solidFill>
                  <a:srgbClr val="59708B"/>
                </a:solidFill>
                <a:latin typeface="Century Gothic"/>
                <a:cs typeface="Century Gothic"/>
              </a:rPr>
              <a:t>Instantly</a:t>
            </a:r>
            <a:r>
              <a:rPr sz="2550" spc="3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80" dirty="0">
                <a:solidFill>
                  <a:srgbClr val="59708B"/>
                </a:solidFill>
                <a:latin typeface="Century Gothic"/>
                <a:cs typeface="Century Gothic"/>
              </a:rPr>
              <a:t>cutting</a:t>
            </a:r>
            <a:r>
              <a:rPr sz="2550" spc="4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50" dirty="0">
                <a:solidFill>
                  <a:srgbClr val="59708B"/>
                </a:solidFill>
                <a:latin typeface="Century Gothic"/>
                <a:cs typeface="Century Gothic"/>
              </a:rPr>
              <a:t>off</a:t>
            </a:r>
            <a:r>
              <a:rPr sz="2550" spc="3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attackers</a:t>
            </a:r>
            <a:r>
              <a:rPr sz="2550" spc="4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125" dirty="0">
                <a:solidFill>
                  <a:srgbClr val="59708B"/>
                </a:solidFill>
                <a:latin typeface="Century Gothic"/>
                <a:cs typeface="Century Gothic"/>
              </a:rPr>
              <a:t>using</a:t>
            </a:r>
            <a:r>
              <a:rPr sz="2550" spc="3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50" dirty="0">
                <a:solidFill>
                  <a:srgbClr val="59708B"/>
                </a:solidFill>
                <a:latin typeface="Century Gothic"/>
                <a:cs typeface="Century Gothic"/>
              </a:rPr>
              <a:t>server </a:t>
            </a:r>
            <a:r>
              <a:rPr sz="2550" spc="95" dirty="0">
                <a:solidFill>
                  <a:srgbClr val="59708B"/>
                </a:solidFill>
                <a:latin typeface="Century Gothic"/>
                <a:cs typeface="Century Gothic"/>
              </a:rPr>
              <a:t>firewalls</a:t>
            </a:r>
            <a:endParaRPr sz="25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5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2550">
              <a:latin typeface="Century Gothic"/>
              <a:cs typeface="Century Gothic"/>
            </a:endParaRPr>
          </a:p>
          <a:p>
            <a:pPr marL="50800">
              <a:lnSpc>
                <a:spcPct val="100000"/>
              </a:lnSpc>
            </a:pPr>
            <a:r>
              <a:rPr sz="3600" b="1" spc="284" baseline="9259" dirty="0">
                <a:solidFill>
                  <a:srgbClr val="653293"/>
                </a:solidFill>
                <a:latin typeface="Calibri"/>
                <a:cs typeface="Calibri"/>
              </a:rPr>
              <a:t>3-</a:t>
            </a:r>
            <a:r>
              <a:rPr sz="3600" b="1" spc="300" baseline="9259" dirty="0">
                <a:solidFill>
                  <a:srgbClr val="653293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3D0961"/>
                </a:solidFill>
                <a:latin typeface="Century Gothic"/>
                <a:cs typeface="Century Gothic"/>
              </a:rPr>
              <a:t>Final</a:t>
            </a:r>
            <a:r>
              <a:rPr sz="3050" spc="-32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050" spc="-200" dirty="0">
                <a:solidFill>
                  <a:srgbClr val="3D0961"/>
                </a:solidFill>
                <a:latin typeface="Century Gothic"/>
                <a:cs typeface="Century Gothic"/>
              </a:rPr>
              <a:t>Outcome:</a:t>
            </a:r>
            <a:r>
              <a:rPr sz="3050" spc="-31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050" spc="-130" dirty="0">
                <a:solidFill>
                  <a:srgbClr val="3D0961"/>
                </a:solidFill>
                <a:latin typeface="Century Gothic"/>
                <a:cs typeface="Century Gothic"/>
              </a:rPr>
              <a:t>Resource</a:t>
            </a:r>
            <a:r>
              <a:rPr sz="3050" spc="-32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050" spc="-305" dirty="0">
                <a:solidFill>
                  <a:srgbClr val="3D0961"/>
                </a:solidFill>
                <a:latin typeface="Century Gothic"/>
                <a:cs typeface="Century Gothic"/>
              </a:rPr>
              <a:t>&amp;</a:t>
            </a:r>
            <a:r>
              <a:rPr sz="3050" spc="-315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050" spc="-45" dirty="0">
                <a:solidFill>
                  <a:srgbClr val="3D0961"/>
                </a:solidFill>
                <a:latin typeface="Century Gothic"/>
                <a:cs typeface="Century Gothic"/>
              </a:rPr>
              <a:t>Integrity</a:t>
            </a:r>
            <a:r>
              <a:rPr sz="3050" spc="-320" dirty="0">
                <a:solidFill>
                  <a:srgbClr val="3D0961"/>
                </a:solidFill>
                <a:latin typeface="Century Gothic"/>
                <a:cs typeface="Century Gothic"/>
              </a:rPr>
              <a:t> </a:t>
            </a:r>
            <a:r>
              <a:rPr sz="3050" spc="-10" dirty="0">
                <a:solidFill>
                  <a:srgbClr val="3D0961"/>
                </a:solidFill>
                <a:latin typeface="Century Gothic"/>
                <a:cs typeface="Century Gothic"/>
              </a:rPr>
              <a:t>Protection</a:t>
            </a:r>
            <a:endParaRPr sz="3050">
              <a:latin typeface="Century Gothic"/>
              <a:cs typeface="Century Gothic"/>
            </a:endParaRPr>
          </a:p>
          <a:p>
            <a:pPr marL="457834" marR="217170">
              <a:lnSpc>
                <a:spcPts val="2630"/>
              </a:lnSpc>
              <a:spcBef>
                <a:spcPts val="3165"/>
              </a:spcBef>
            </a:pPr>
            <a:r>
              <a:rPr sz="2550" spc="75" dirty="0">
                <a:solidFill>
                  <a:srgbClr val="59708B"/>
                </a:solidFill>
                <a:latin typeface="Century Gothic"/>
                <a:cs typeface="Century Gothic"/>
              </a:rPr>
              <a:t>Securing</a:t>
            </a:r>
            <a:r>
              <a:rPr sz="2550" spc="8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global</a:t>
            </a:r>
            <a:r>
              <a:rPr sz="2550" spc="9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80" dirty="0">
                <a:solidFill>
                  <a:srgbClr val="59708B"/>
                </a:solidFill>
                <a:latin typeface="Century Gothic"/>
                <a:cs typeface="Century Gothic"/>
              </a:rPr>
              <a:t>models</a:t>
            </a:r>
            <a:r>
              <a:rPr sz="2550" spc="9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and</a:t>
            </a:r>
            <a:r>
              <a:rPr sz="2550" spc="90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dirty="0">
                <a:solidFill>
                  <a:srgbClr val="59708B"/>
                </a:solidFill>
                <a:latin typeface="Century Gothic"/>
                <a:cs typeface="Century Gothic"/>
              </a:rPr>
              <a:t>preventing</a:t>
            </a:r>
            <a:r>
              <a:rPr sz="2550" spc="95" dirty="0">
                <a:solidFill>
                  <a:srgbClr val="59708B"/>
                </a:solidFill>
                <a:latin typeface="Century Gothic"/>
                <a:cs typeface="Century Gothic"/>
              </a:rPr>
              <a:t> </a:t>
            </a:r>
            <a:r>
              <a:rPr sz="2550" spc="-10" dirty="0">
                <a:solidFill>
                  <a:srgbClr val="59708B"/>
                </a:solidFill>
                <a:latin typeface="Century Gothic"/>
                <a:cs typeface="Century Gothic"/>
              </a:rPr>
              <a:t>resource </a:t>
            </a:r>
            <a:r>
              <a:rPr sz="2550" spc="60" dirty="0">
                <a:solidFill>
                  <a:srgbClr val="59708B"/>
                </a:solidFill>
                <a:latin typeface="Century Gothic"/>
                <a:cs typeface="Century Gothic"/>
              </a:rPr>
              <a:t>exhaustion</a:t>
            </a:r>
            <a:endParaRPr sz="25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31883" y="298338"/>
            <a:ext cx="64452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solidFill>
                  <a:srgbClr val="731B9E"/>
                </a:solidFill>
                <a:latin typeface="Century Gothic"/>
                <a:cs typeface="Century Gothic"/>
              </a:rPr>
              <a:t>10/5</a:t>
            </a:r>
            <a:endParaRPr sz="2400">
              <a:latin typeface="Century Gothic"/>
              <a:cs typeface="Century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21694" y="3455848"/>
            <a:ext cx="2105464" cy="6477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477916" y="3624594"/>
            <a:ext cx="184277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b="1" spc="-60" dirty="0">
                <a:solidFill>
                  <a:srgbClr val="3D0961"/>
                </a:solidFill>
                <a:latin typeface="Tahoma"/>
                <a:cs typeface="Tahoma"/>
              </a:rPr>
              <a:t>Network</a:t>
            </a:r>
            <a:r>
              <a:rPr sz="1750" b="1" spc="-70" dirty="0">
                <a:solidFill>
                  <a:srgbClr val="3D0961"/>
                </a:solidFill>
                <a:latin typeface="Tahoma"/>
                <a:cs typeface="Tahoma"/>
              </a:rPr>
              <a:t> </a:t>
            </a:r>
            <a:r>
              <a:rPr sz="1750" b="1" spc="-30" dirty="0">
                <a:solidFill>
                  <a:srgbClr val="3D0961"/>
                </a:solidFill>
                <a:latin typeface="Tahoma"/>
                <a:cs typeface="Tahoma"/>
              </a:rPr>
              <a:t>isolated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87747" y="2799556"/>
            <a:ext cx="6776084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650" dirty="0">
                <a:solidFill>
                  <a:srgbClr val="653293"/>
                </a:solidFill>
              </a:rPr>
              <a:t>Expected</a:t>
            </a:r>
            <a:r>
              <a:rPr sz="5000" spc="229" dirty="0">
                <a:solidFill>
                  <a:srgbClr val="653293"/>
                </a:solidFill>
              </a:rPr>
              <a:t> </a:t>
            </a:r>
            <a:r>
              <a:rPr sz="5000" spc="515" dirty="0">
                <a:solidFill>
                  <a:srgbClr val="653293"/>
                </a:solidFill>
              </a:rPr>
              <a:t>Outcomes:</a:t>
            </a:r>
            <a:endParaRPr sz="5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39587" cy="28439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397" y="4778193"/>
            <a:ext cx="161925" cy="161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4397" y="5984862"/>
            <a:ext cx="161925" cy="1619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93590" y="4504413"/>
            <a:ext cx="12433935" cy="18313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00" dirty="0">
                <a:solidFill>
                  <a:srgbClr val="731B9E"/>
                </a:solidFill>
                <a:latin typeface="Century Gothic"/>
                <a:cs typeface="Century Gothic"/>
              </a:rPr>
              <a:t>Secure</a:t>
            </a:r>
            <a:r>
              <a:rPr sz="3900" spc="8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320" dirty="0">
                <a:solidFill>
                  <a:srgbClr val="731B9E"/>
                </a:solidFill>
                <a:latin typeface="Century Gothic"/>
                <a:cs typeface="Century Gothic"/>
              </a:rPr>
              <a:t>FL</a:t>
            </a:r>
            <a:r>
              <a:rPr sz="3900" spc="8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dirty="0">
                <a:solidFill>
                  <a:srgbClr val="731B9E"/>
                </a:solidFill>
                <a:latin typeface="Century Gothic"/>
                <a:cs typeface="Century Gothic"/>
              </a:rPr>
              <a:t>against</a:t>
            </a:r>
            <a:r>
              <a:rPr sz="3900" spc="85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114" dirty="0">
                <a:solidFill>
                  <a:srgbClr val="731B9E"/>
                </a:solidFill>
                <a:latin typeface="Century Gothic"/>
                <a:cs typeface="Century Gothic"/>
              </a:rPr>
              <a:t>synchronized</a:t>
            </a:r>
            <a:r>
              <a:rPr sz="3900" spc="8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190" dirty="0">
                <a:solidFill>
                  <a:srgbClr val="731B9E"/>
                </a:solidFill>
                <a:latin typeface="Century Gothic"/>
                <a:cs typeface="Century Gothic"/>
              </a:rPr>
              <a:t>insider</a:t>
            </a:r>
            <a:r>
              <a:rPr sz="3900" spc="85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65" dirty="0">
                <a:solidFill>
                  <a:srgbClr val="731B9E"/>
                </a:solidFill>
                <a:latin typeface="Century Gothic"/>
                <a:cs typeface="Century Gothic"/>
              </a:rPr>
              <a:t>threats.</a:t>
            </a:r>
            <a:endParaRPr sz="39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3900" dirty="0">
                <a:solidFill>
                  <a:srgbClr val="731B9E"/>
                </a:solidFill>
                <a:latin typeface="Century Gothic"/>
                <a:cs typeface="Century Gothic"/>
              </a:rPr>
              <a:t>Automated</a:t>
            </a:r>
            <a:r>
              <a:rPr sz="3900" spc="50" dirty="0">
                <a:solidFill>
                  <a:srgbClr val="731B9E"/>
                </a:solidFill>
                <a:latin typeface="Century Gothic"/>
                <a:cs typeface="Century Gothic"/>
              </a:rPr>
              <a:t> real-</a:t>
            </a:r>
            <a:r>
              <a:rPr sz="3900" spc="190" dirty="0">
                <a:solidFill>
                  <a:srgbClr val="731B9E"/>
                </a:solidFill>
                <a:latin typeface="Century Gothic"/>
                <a:cs typeface="Century Gothic"/>
              </a:rPr>
              <a:t>time</a:t>
            </a:r>
            <a:r>
              <a:rPr sz="3900" spc="5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135" dirty="0">
                <a:solidFill>
                  <a:srgbClr val="731B9E"/>
                </a:solidFill>
                <a:latin typeface="Century Gothic"/>
                <a:cs typeface="Century Gothic"/>
              </a:rPr>
              <a:t>isolation</a:t>
            </a:r>
            <a:r>
              <a:rPr sz="3900" spc="5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dirty="0">
                <a:solidFill>
                  <a:srgbClr val="731B9E"/>
                </a:solidFill>
                <a:latin typeface="Century Gothic"/>
                <a:cs typeface="Century Gothic"/>
              </a:rPr>
              <a:t>of</a:t>
            </a:r>
            <a:r>
              <a:rPr sz="3900" spc="5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125" dirty="0">
                <a:solidFill>
                  <a:srgbClr val="731B9E"/>
                </a:solidFill>
                <a:latin typeface="Century Gothic"/>
                <a:cs typeface="Century Gothic"/>
              </a:rPr>
              <a:t>malicious</a:t>
            </a:r>
            <a:r>
              <a:rPr sz="3900" spc="5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-10" dirty="0">
                <a:solidFill>
                  <a:srgbClr val="731B9E"/>
                </a:solidFill>
                <a:latin typeface="Century Gothic"/>
                <a:cs typeface="Century Gothic"/>
              </a:rPr>
              <a:t>nodes.</a:t>
            </a:r>
            <a:endParaRPr sz="39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31883" y="298338"/>
            <a:ext cx="64897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5" dirty="0">
                <a:solidFill>
                  <a:srgbClr val="731B9E"/>
                </a:solidFill>
                <a:latin typeface="Century Gothic"/>
                <a:cs typeface="Century Gothic"/>
              </a:rPr>
              <a:t>10/6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0848" y="5654435"/>
            <a:ext cx="11900352" cy="6168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00" dirty="0">
                <a:solidFill>
                  <a:srgbClr val="731B9E"/>
                </a:solidFill>
                <a:latin typeface="Century Gothic"/>
                <a:cs typeface="Century Gothic"/>
              </a:rPr>
              <a:t>Fede</a:t>
            </a:r>
            <a:r>
              <a:rPr lang="en-US" sz="3900" dirty="0">
                <a:solidFill>
                  <a:srgbClr val="731B9E"/>
                </a:solidFill>
                <a:latin typeface="Century Gothic"/>
                <a:cs typeface="Century Gothic"/>
              </a:rPr>
              <a:t>r</a:t>
            </a:r>
            <a:r>
              <a:rPr sz="3900" dirty="0">
                <a:solidFill>
                  <a:srgbClr val="731B9E"/>
                </a:solidFill>
                <a:latin typeface="Century Gothic"/>
                <a:cs typeface="Century Gothic"/>
              </a:rPr>
              <a:t>ated</a:t>
            </a:r>
            <a:r>
              <a:rPr sz="3900" spc="-195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90" dirty="0">
                <a:solidFill>
                  <a:srgbClr val="731B9E"/>
                </a:solidFill>
                <a:latin typeface="Century Gothic"/>
                <a:cs typeface="Century Gothic"/>
              </a:rPr>
              <a:t>Lea</a:t>
            </a:r>
            <a:r>
              <a:rPr lang="en-US" sz="3900" spc="90" dirty="0">
                <a:solidFill>
                  <a:srgbClr val="731B9E"/>
                </a:solidFill>
                <a:latin typeface="Century Gothic"/>
                <a:cs typeface="Century Gothic"/>
              </a:rPr>
              <a:t>r</a:t>
            </a:r>
            <a:r>
              <a:rPr sz="3900" spc="90" dirty="0">
                <a:solidFill>
                  <a:srgbClr val="731B9E"/>
                </a:solidFill>
                <a:latin typeface="Century Gothic"/>
                <a:cs typeface="Century Gothic"/>
              </a:rPr>
              <a:t>ning</a:t>
            </a:r>
            <a:r>
              <a:rPr sz="3900" spc="-16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105" dirty="0">
                <a:solidFill>
                  <a:srgbClr val="731B9E"/>
                </a:solidFill>
                <a:latin typeface="Century Gothic"/>
                <a:cs typeface="Century Gothic"/>
              </a:rPr>
              <a:t>Setup</a:t>
            </a:r>
            <a:r>
              <a:rPr sz="3900" spc="-16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-415" dirty="0">
                <a:solidFill>
                  <a:srgbClr val="731B9E"/>
                </a:solidFill>
                <a:latin typeface="Century Gothic"/>
                <a:cs typeface="Century Gothic"/>
              </a:rPr>
              <a:t>&amp;</a:t>
            </a:r>
            <a:r>
              <a:rPr sz="3900" spc="-13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-30" dirty="0">
                <a:solidFill>
                  <a:srgbClr val="731B9E"/>
                </a:solidFill>
                <a:latin typeface="Century Gothic"/>
                <a:cs typeface="Century Gothic"/>
              </a:rPr>
              <a:t>Attack</a:t>
            </a:r>
            <a:r>
              <a:rPr sz="3900" spc="-16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160" dirty="0">
                <a:solidFill>
                  <a:srgbClr val="731B9E"/>
                </a:solidFill>
                <a:latin typeface="Century Gothic"/>
                <a:cs typeface="Century Gothic"/>
              </a:rPr>
              <a:t>Simulation</a:t>
            </a:r>
            <a:endParaRPr sz="3900" dirty="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456" y="3830817"/>
            <a:ext cx="3286125" cy="68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50" b="1" spc="360" dirty="0">
                <a:solidFill>
                  <a:srgbClr val="731B9E"/>
                </a:solidFill>
                <a:latin typeface="Calibri"/>
                <a:cs typeface="Calibri"/>
              </a:rPr>
              <a:t>(Pre-</a:t>
            </a:r>
            <a:r>
              <a:rPr sz="4350" b="1" spc="434" dirty="0">
                <a:solidFill>
                  <a:srgbClr val="731B9E"/>
                </a:solidFill>
                <a:latin typeface="Calibri"/>
                <a:cs typeface="Calibri"/>
              </a:rPr>
              <a:t>Grad</a:t>
            </a:r>
            <a:r>
              <a:rPr sz="4350" b="1" spc="215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4350" b="1" spc="-70" dirty="0">
                <a:solidFill>
                  <a:srgbClr val="731B9E"/>
                </a:solidFill>
                <a:latin typeface="Calibri"/>
                <a:cs typeface="Calibri"/>
              </a:rPr>
              <a:t>1)</a:t>
            </a:r>
            <a:endParaRPr sz="43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8737" y="5925147"/>
            <a:ext cx="3973195" cy="68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50" b="1" spc="409" dirty="0">
                <a:solidFill>
                  <a:srgbClr val="731B9E"/>
                </a:solidFill>
                <a:latin typeface="Calibri"/>
                <a:cs typeface="Calibri"/>
              </a:rPr>
              <a:t>(Graduation</a:t>
            </a:r>
            <a:r>
              <a:rPr sz="4350" b="1" spc="240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4350" b="1" spc="-35" dirty="0">
                <a:solidFill>
                  <a:srgbClr val="731B9E"/>
                </a:solidFill>
                <a:latin typeface="Calibri"/>
                <a:cs typeface="Calibri"/>
              </a:rPr>
              <a:t>1)</a:t>
            </a:r>
            <a:endParaRPr sz="4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87990" y="3417803"/>
            <a:ext cx="422909" cy="1457325"/>
            <a:chOff x="4487990" y="3417803"/>
            <a:chExt cx="422909" cy="1457325"/>
          </a:xfrm>
        </p:grpSpPr>
        <p:sp>
          <p:nvSpPr>
            <p:cNvPr id="6" name="object 6"/>
            <p:cNvSpPr/>
            <p:nvPr/>
          </p:nvSpPr>
          <p:spPr>
            <a:xfrm>
              <a:off x="4507040" y="3436853"/>
              <a:ext cx="327660" cy="1295400"/>
            </a:xfrm>
            <a:custGeom>
              <a:avLst/>
              <a:gdLst/>
              <a:ahLst/>
              <a:cxnLst/>
              <a:rect l="l" t="t" r="r" b="b"/>
              <a:pathLst>
                <a:path w="327660" h="1295400">
                  <a:moveTo>
                    <a:pt x="0" y="0"/>
                  </a:moveTo>
                  <a:lnTo>
                    <a:pt x="163714" y="0"/>
                  </a:lnTo>
                  <a:lnTo>
                    <a:pt x="195802" y="3174"/>
                  </a:lnTo>
                  <a:lnTo>
                    <a:pt x="254543" y="27505"/>
                  </a:lnTo>
                  <a:lnTo>
                    <a:pt x="299922" y="72885"/>
                  </a:lnTo>
                  <a:lnTo>
                    <a:pt x="324253" y="131626"/>
                  </a:lnTo>
                  <a:lnTo>
                    <a:pt x="327428" y="163714"/>
                  </a:lnTo>
                  <a:lnTo>
                    <a:pt x="327428" y="129531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8269" y="4722647"/>
              <a:ext cx="152399" cy="15239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716749" y="5399547"/>
            <a:ext cx="422909" cy="1457325"/>
            <a:chOff x="4716749" y="5399547"/>
            <a:chExt cx="422909" cy="1457325"/>
          </a:xfrm>
        </p:grpSpPr>
        <p:sp>
          <p:nvSpPr>
            <p:cNvPr id="9" name="object 9"/>
            <p:cNvSpPr/>
            <p:nvPr/>
          </p:nvSpPr>
          <p:spPr>
            <a:xfrm>
              <a:off x="4735799" y="5418597"/>
              <a:ext cx="327660" cy="1295400"/>
            </a:xfrm>
            <a:custGeom>
              <a:avLst/>
              <a:gdLst/>
              <a:ahLst/>
              <a:cxnLst/>
              <a:rect l="l" t="t" r="r" b="b"/>
              <a:pathLst>
                <a:path w="327660" h="1295400">
                  <a:moveTo>
                    <a:pt x="0" y="0"/>
                  </a:moveTo>
                  <a:lnTo>
                    <a:pt x="163714" y="0"/>
                  </a:lnTo>
                  <a:lnTo>
                    <a:pt x="195802" y="3174"/>
                  </a:lnTo>
                  <a:lnTo>
                    <a:pt x="254543" y="27505"/>
                  </a:lnTo>
                  <a:lnTo>
                    <a:pt x="299922" y="72885"/>
                  </a:lnTo>
                  <a:lnTo>
                    <a:pt x="324253" y="131626"/>
                  </a:lnTo>
                  <a:lnTo>
                    <a:pt x="327428" y="163714"/>
                  </a:lnTo>
                  <a:lnTo>
                    <a:pt x="327428" y="129531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7027" y="6704391"/>
              <a:ext cx="152399" cy="15239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642180" y="7714042"/>
            <a:ext cx="422909" cy="1457325"/>
            <a:chOff x="4642180" y="7714042"/>
            <a:chExt cx="422909" cy="1457325"/>
          </a:xfrm>
        </p:grpSpPr>
        <p:sp>
          <p:nvSpPr>
            <p:cNvPr id="12" name="object 12"/>
            <p:cNvSpPr/>
            <p:nvPr/>
          </p:nvSpPr>
          <p:spPr>
            <a:xfrm>
              <a:off x="4661230" y="7733092"/>
              <a:ext cx="327660" cy="1295400"/>
            </a:xfrm>
            <a:custGeom>
              <a:avLst/>
              <a:gdLst/>
              <a:ahLst/>
              <a:cxnLst/>
              <a:rect l="l" t="t" r="r" b="b"/>
              <a:pathLst>
                <a:path w="327660" h="1295400">
                  <a:moveTo>
                    <a:pt x="0" y="0"/>
                  </a:moveTo>
                  <a:lnTo>
                    <a:pt x="163714" y="0"/>
                  </a:lnTo>
                  <a:lnTo>
                    <a:pt x="195802" y="3174"/>
                  </a:lnTo>
                  <a:lnTo>
                    <a:pt x="254543" y="27505"/>
                  </a:lnTo>
                  <a:lnTo>
                    <a:pt x="299922" y="72885"/>
                  </a:lnTo>
                  <a:lnTo>
                    <a:pt x="324253" y="131626"/>
                  </a:lnTo>
                  <a:lnTo>
                    <a:pt x="327428" y="163714"/>
                  </a:lnTo>
                  <a:lnTo>
                    <a:pt x="327428" y="129531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458" y="9018886"/>
              <a:ext cx="152399" cy="1523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323782" y="3819603"/>
            <a:ext cx="11668817" cy="6168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00" spc="150" dirty="0" err="1">
                <a:solidFill>
                  <a:srgbClr val="731B9E"/>
                </a:solidFill>
                <a:latin typeface="Century Gothic"/>
                <a:cs typeface="Century Gothic"/>
              </a:rPr>
              <a:t>Netw</a:t>
            </a:r>
            <a:r>
              <a:rPr lang="en-US" sz="3900" spc="150" dirty="0" err="1">
                <a:solidFill>
                  <a:srgbClr val="731B9E"/>
                </a:solidFill>
                <a:latin typeface="Century Gothic"/>
                <a:cs typeface="Century Gothic"/>
              </a:rPr>
              <a:t>r</a:t>
            </a:r>
            <a:r>
              <a:rPr sz="3900" spc="150" dirty="0" err="1">
                <a:solidFill>
                  <a:srgbClr val="731B9E"/>
                </a:solidFill>
                <a:latin typeface="Century Gothic"/>
                <a:cs typeface="Century Gothic"/>
              </a:rPr>
              <a:t>ok</a:t>
            </a:r>
            <a:r>
              <a:rPr sz="3900" spc="-12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60" dirty="0">
                <a:solidFill>
                  <a:srgbClr val="731B9E"/>
                </a:solidFill>
                <a:latin typeface="Century Gothic"/>
                <a:cs typeface="Century Gothic"/>
              </a:rPr>
              <a:t>Foundation</a:t>
            </a:r>
            <a:r>
              <a:rPr sz="3900" spc="-12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-415" dirty="0">
                <a:solidFill>
                  <a:srgbClr val="731B9E"/>
                </a:solidFill>
                <a:latin typeface="Century Gothic"/>
                <a:cs typeface="Century Gothic"/>
              </a:rPr>
              <a:t>&amp;</a:t>
            </a:r>
            <a:r>
              <a:rPr sz="3900" spc="-114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75" dirty="0">
                <a:solidFill>
                  <a:srgbClr val="731B9E"/>
                </a:solidFill>
                <a:latin typeface="Century Gothic"/>
                <a:cs typeface="Century Gothic"/>
              </a:rPr>
              <a:t>P</a:t>
            </a:r>
            <a:r>
              <a:rPr lang="en-US" sz="3900" spc="75" dirty="0">
                <a:solidFill>
                  <a:srgbClr val="731B9E"/>
                </a:solidFill>
                <a:latin typeface="Century Gothic"/>
                <a:cs typeface="Century Gothic"/>
              </a:rPr>
              <a:t>r</a:t>
            </a:r>
            <a:r>
              <a:rPr sz="3900" spc="75" dirty="0">
                <a:solidFill>
                  <a:srgbClr val="731B9E"/>
                </a:solidFill>
                <a:latin typeface="Century Gothic"/>
                <a:cs typeface="Century Gothic"/>
              </a:rPr>
              <a:t>otocol</a:t>
            </a:r>
            <a:r>
              <a:rPr sz="3900" spc="-114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35" dirty="0">
                <a:solidFill>
                  <a:srgbClr val="731B9E"/>
                </a:solidFill>
                <a:latin typeface="Century Gothic"/>
                <a:cs typeface="Century Gothic"/>
              </a:rPr>
              <a:t>Configu</a:t>
            </a:r>
            <a:r>
              <a:rPr lang="en-US" sz="3900" spc="35" dirty="0">
                <a:solidFill>
                  <a:srgbClr val="731B9E"/>
                </a:solidFill>
                <a:latin typeface="Century Gothic"/>
                <a:cs typeface="Century Gothic"/>
              </a:rPr>
              <a:t>r</a:t>
            </a:r>
            <a:r>
              <a:rPr sz="3900" spc="35" dirty="0">
                <a:solidFill>
                  <a:srgbClr val="731B9E"/>
                </a:solidFill>
                <a:latin typeface="Century Gothic"/>
                <a:cs typeface="Century Gothic"/>
              </a:rPr>
              <a:t>ation</a:t>
            </a:r>
            <a:endParaRPr sz="39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149" y="7947119"/>
            <a:ext cx="3914140" cy="661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50" b="1" spc="405" dirty="0">
                <a:solidFill>
                  <a:srgbClr val="731B9E"/>
                </a:solidFill>
                <a:latin typeface="Calibri"/>
                <a:cs typeface="Calibri"/>
              </a:rPr>
              <a:t>(Graduation</a:t>
            </a:r>
            <a:r>
              <a:rPr sz="4150" b="1" spc="225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4150" b="1" spc="250" dirty="0">
                <a:solidFill>
                  <a:srgbClr val="731B9E"/>
                </a:solidFill>
                <a:latin typeface="Calibri"/>
                <a:cs typeface="Calibri"/>
              </a:rPr>
              <a:t>2)</a:t>
            </a:r>
            <a:endParaRPr sz="415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139587" cy="2843945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801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5"/>
              </a:spcBef>
            </a:pPr>
            <a:r>
              <a:rPr sz="4900" spc="484" dirty="0">
                <a:solidFill>
                  <a:srgbClr val="05114D"/>
                </a:solidFill>
              </a:rPr>
              <a:t>Project</a:t>
            </a:r>
            <a:r>
              <a:rPr sz="4900" spc="240" dirty="0">
                <a:solidFill>
                  <a:srgbClr val="05114D"/>
                </a:solidFill>
              </a:rPr>
              <a:t> </a:t>
            </a:r>
            <a:r>
              <a:rPr sz="4900" spc="670" dirty="0"/>
              <a:t>Roadmap</a:t>
            </a:r>
            <a:endParaRPr sz="4900"/>
          </a:p>
        </p:txBody>
      </p:sp>
      <p:sp>
        <p:nvSpPr>
          <p:cNvPr id="18" name="object 18"/>
          <p:cNvSpPr txBox="1"/>
          <p:nvPr/>
        </p:nvSpPr>
        <p:spPr>
          <a:xfrm>
            <a:off x="5279282" y="7895677"/>
            <a:ext cx="12138025" cy="624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00" dirty="0">
                <a:solidFill>
                  <a:srgbClr val="731B9E"/>
                </a:solidFill>
                <a:latin typeface="Century Gothic"/>
                <a:cs typeface="Century Gothic"/>
              </a:rPr>
              <a:t>Detection</a:t>
            </a:r>
            <a:r>
              <a:rPr sz="3900" spc="-135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100" dirty="0">
                <a:solidFill>
                  <a:srgbClr val="731B9E"/>
                </a:solidFill>
                <a:latin typeface="Century Gothic"/>
                <a:cs typeface="Century Gothic"/>
              </a:rPr>
              <a:t>Implementation</a:t>
            </a:r>
            <a:r>
              <a:rPr sz="3900" spc="-13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-415" dirty="0">
                <a:solidFill>
                  <a:srgbClr val="731B9E"/>
                </a:solidFill>
                <a:latin typeface="Century Gothic"/>
                <a:cs typeface="Century Gothic"/>
              </a:rPr>
              <a:t>&amp;</a:t>
            </a:r>
            <a:r>
              <a:rPr sz="3900" spc="-13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dirty="0">
                <a:solidFill>
                  <a:srgbClr val="731B9E"/>
                </a:solidFill>
                <a:latin typeface="Century Gothic"/>
                <a:cs typeface="Century Gothic"/>
              </a:rPr>
              <a:t>Automated</a:t>
            </a:r>
            <a:r>
              <a:rPr sz="3900" spc="-130" dirty="0">
                <a:solidFill>
                  <a:srgbClr val="731B9E"/>
                </a:solidFill>
                <a:latin typeface="Century Gothic"/>
                <a:cs typeface="Century Gothic"/>
              </a:rPr>
              <a:t> </a:t>
            </a:r>
            <a:r>
              <a:rPr sz="3900" spc="75" dirty="0">
                <a:solidFill>
                  <a:srgbClr val="731B9E"/>
                </a:solidFill>
                <a:latin typeface="Century Gothic"/>
                <a:cs typeface="Century Gothic"/>
              </a:rPr>
              <a:t>Isolation</a:t>
            </a:r>
            <a:endParaRPr sz="39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31883" y="298338"/>
            <a:ext cx="62992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60" dirty="0">
                <a:solidFill>
                  <a:srgbClr val="731B9E"/>
                </a:solidFill>
                <a:latin typeface="Century Gothic"/>
                <a:cs typeface="Century Gothic"/>
              </a:rPr>
              <a:t>10/7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1069" y="639149"/>
            <a:ext cx="4335780" cy="87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50" b="1" spc="565" dirty="0">
                <a:solidFill>
                  <a:srgbClr val="05114D"/>
                </a:solidFill>
                <a:latin typeface="Calibri"/>
                <a:cs typeface="Calibri"/>
              </a:rPr>
              <a:t>Gantt</a:t>
            </a:r>
            <a:r>
              <a:rPr sz="5550" b="1" spc="240" dirty="0">
                <a:solidFill>
                  <a:srgbClr val="05114D"/>
                </a:solidFill>
                <a:latin typeface="Calibri"/>
                <a:cs typeface="Calibri"/>
              </a:rPr>
              <a:t> </a:t>
            </a:r>
            <a:r>
              <a:rPr sz="5550" b="1" spc="459" dirty="0">
                <a:solidFill>
                  <a:srgbClr val="AB69C8"/>
                </a:solidFill>
                <a:latin typeface="Calibri"/>
                <a:cs typeface="Calibri"/>
              </a:rPr>
              <a:t>chart:</a:t>
            </a:r>
            <a:endParaRPr sz="55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131883" y="298338"/>
            <a:ext cx="64897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0" spc="-25" dirty="0">
                <a:solidFill>
                  <a:srgbClr val="731B9E"/>
                </a:solidFill>
                <a:latin typeface="Century Gothic"/>
                <a:cs typeface="Century Gothic"/>
              </a:rPr>
              <a:t>10/8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005242" y="6754253"/>
            <a:ext cx="4283075" cy="3533140"/>
          </a:xfrm>
          <a:custGeom>
            <a:avLst/>
            <a:gdLst/>
            <a:ahLst/>
            <a:cxnLst/>
            <a:rect l="l" t="t" r="r" b="b"/>
            <a:pathLst>
              <a:path w="4283075" h="3533140">
                <a:moveTo>
                  <a:pt x="3946436" y="765022"/>
                </a:moveTo>
                <a:lnTo>
                  <a:pt x="3923119" y="743839"/>
                </a:lnTo>
                <a:lnTo>
                  <a:pt x="2694546" y="2096655"/>
                </a:lnTo>
                <a:lnTo>
                  <a:pt x="2717863" y="2117839"/>
                </a:lnTo>
                <a:lnTo>
                  <a:pt x="3946436" y="765022"/>
                </a:lnTo>
                <a:close/>
              </a:path>
              <a:path w="4283075" h="3533140">
                <a:moveTo>
                  <a:pt x="4282745" y="857300"/>
                </a:moveTo>
                <a:lnTo>
                  <a:pt x="4179608" y="820712"/>
                </a:lnTo>
                <a:lnTo>
                  <a:pt x="2788628" y="2352357"/>
                </a:lnTo>
                <a:lnTo>
                  <a:pt x="2077796" y="2104034"/>
                </a:lnTo>
                <a:lnTo>
                  <a:pt x="780300" y="3532746"/>
                </a:lnTo>
                <a:lnTo>
                  <a:pt x="865416" y="3532746"/>
                </a:lnTo>
                <a:lnTo>
                  <a:pt x="2117382" y="2154174"/>
                </a:lnTo>
                <a:lnTo>
                  <a:pt x="2835999" y="2409558"/>
                </a:lnTo>
                <a:lnTo>
                  <a:pt x="4226966" y="877912"/>
                </a:lnTo>
                <a:lnTo>
                  <a:pt x="4282745" y="897699"/>
                </a:lnTo>
                <a:lnTo>
                  <a:pt x="4282745" y="857300"/>
                </a:lnTo>
                <a:close/>
              </a:path>
              <a:path w="4283075" h="3533140">
                <a:moveTo>
                  <a:pt x="4282745" y="573379"/>
                </a:moveTo>
                <a:lnTo>
                  <a:pt x="3825456" y="413969"/>
                </a:lnTo>
                <a:lnTo>
                  <a:pt x="2349754" y="2038908"/>
                </a:lnTo>
                <a:lnTo>
                  <a:pt x="1896122" y="1882305"/>
                </a:lnTo>
                <a:lnTo>
                  <a:pt x="397243" y="3532746"/>
                </a:lnTo>
                <a:lnTo>
                  <a:pt x="439801" y="3532746"/>
                </a:lnTo>
                <a:lnTo>
                  <a:pt x="1919439" y="1903488"/>
                </a:lnTo>
                <a:lnTo>
                  <a:pt x="2366022" y="2067864"/>
                </a:lnTo>
                <a:lnTo>
                  <a:pt x="3841724" y="442925"/>
                </a:lnTo>
                <a:lnTo>
                  <a:pt x="4282745" y="596671"/>
                </a:lnTo>
                <a:lnTo>
                  <a:pt x="4282745" y="573379"/>
                </a:lnTo>
                <a:close/>
              </a:path>
              <a:path w="4283075" h="3533140">
                <a:moveTo>
                  <a:pt x="4282745" y="181394"/>
                </a:moveTo>
                <a:lnTo>
                  <a:pt x="3775786" y="0"/>
                </a:lnTo>
                <a:lnTo>
                  <a:pt x="2342451" y="1578292"/>
                </a:lnTo>
                <a:lnTo>
                  <a:pt x="1644192" y="1331734"/>
                </a:lnTo>
                <a:lnTo>
                  <a:pt x="1601228" y="1316570"/>
                </a:lnTo>
                <a:lnTo>
                  <a:pt x="1269377" y="1681975"/>
                </a:lnTo>
                <a:lnTo>
                  <a:pt x="1410119" y="1980044"/>
                </a:lnTo>
                <a:lnTo>
                  <a:pt x="0" y="3532746"/>
                </a:lnTo>
                <a:lnTo>
                  <a:pt x="56756" y="3532746"/>
                </a:lnTo>
                <a:lnTo>
                  <a:pt x="1448269" y="2000504"/>
                </a:lnTo>
                <a:lnTo>
                  <a:pt x="1307528" y="1702447"/>
                </a:lnTo>
                <a:lnTo>
                  <a:pt x="1632331" y="1344803"/>
                </a:lnTo>
                <a:lnTo>
                  <a:pt x="2358720" y="1607248"/>
                </a:lnTo>
                <a:lnTo>
                  <a:pt x="3792055" y="28956"/>
                </a:lnTo>
                <a:lnTo>
                  <a:pt x="4282745" y="197345"/>
                </a:lnTo>
                <a:lnTo>
                  <a:pt x="4282745" y="181394"/>
                </a:lnTo>
                <a:close/>
              </a:path>
            </a:pathLst>
          </a:custGeom>
          <a:solidFill>
            <a:srgbClr val="653293">
              <a:alpha val="2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1000" rIns="0" bIns="0" rtlCol="0">
            <a:spAutoFit/>
          </a:bodyPr>
          <a:lstStyle/>
          <a:p>
            <a:pPr marL="3760470">
              <a:lnSpc>
                <a:spcPct val="100000"/>
              </a:lnSpc>
              <a:spcBef>
                <a:spcPts val="140"/>
              </a:spcBef>
            </a:pPr>
            <a:r>
              <a:rPr spc="505" dirty="0">
                <a:solidFill>
                  <a:srgbClr val="05114D"/>
                </a:solidFill>
              </a:rPr>
              <a:t>Tools</a:t>
            </a:r>
            <a:r>
              <a:rPr spc="220" dirty="0">
                <a:solidFill>
                  <a:srgbClr val="05114D"/>
                </a:solidFill>
              </a:rPr>
              <a:t> </a:t>
            </a:r>
            <a:r>
              <a:rPr dirty="0">
                <a:solidFill>
                  <a:srgbClr val="05114D"/>
                </a:solidFill>
              </a:rPr>
              <a:t>&amp;</a:t>
            </a:r>
            <a:r>
              <a:rPr spc="225" dirty="0">
                <a:solidFill>
                  <a:srgbClr val="05114D"/>
                </a:solidFill>
              </a:rPr>
              <a:t> </a:t>
            </a:r>
            <a:r>
              <a:rPr spc="605" dirty="0"/>
              <a:t>Technologies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185" y="5773804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185" y="6735829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185" y="7697854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4524" y="5680553"/>
            <a:ext cx="142875" cy="1428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4524" y="6642578"/>
            <a:ext cx="142875" cy="14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4524" y="8242778"/>
            <a:ext cx="142875" cy="1428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3631" y="4290286"/>
            <a:ext cx="8106409" cy="3727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847725" algn="ctr">
              <a:lnSpc>
                <a:spcPct val="100000"/>
              </a:lnSpc>
              <a:spcBef>
                <a:spcPts val="135"/>
              </a:spcBef>
            </a:pPr>
            <a:r>
              <a:rPr sz="3750" b="1" spc="245" dirty="0">
                <a:solidFill>
                  <a:srgbClr val="731B9E"/>
                </a:solidFill>
                <a:latin typeface="Calibri"/>
                <a:cs typeface="Calibri"/>
              </a:rPr>
              <a:t>Core</a:t>
            </a:r>
            <a:r>
              <a:rPr sz="3750" b="1" spc="-245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750" b="1" spc="-60" dirty="0">
                <a:solidFill>
                  <a:srgbClr val="731B9E"/>
                </a:solidFill>
                <a:latin typeface="Calibri"/>
                <a:cs typeface="Calibri"/>
              </a:rPr>
              <a:t>&amp;</a:t>
            </a:r>
            <a:r>
              <a:rPr sz="3750" b="1" spc="-240" dirty="0">
                <a:solidFill>
                  <a:srgbClr val="731B9E"/>
                </a:solidFill>
                <a:latin typeface="Calibri"/>
                <a:cs typeface="Calibri"/>
              </a:rPr>
              <a:t> </a:t>
            </a:r>
            <a:r>
              <a:rPr sz="3750" b="1" spc="270" dirty="0">
                <a:solidFill>
                  <a:srgbClr val="731B9E"/>
                </a:solidFill>
                <a:latin typeface="Calibri"/>
                <a:cs typeface="Calibri"/>
              </a:rPr>
              <a:t>ML</a:t>
            </a:r>
            <a:endParaRPr sz="3750">
              <a:latin typeface="Calibri"/>
              <a:cs typeface="Calibri"/>
            </a:endParaRPr>
          </a:p>
          <a:p>
            <a:pPr marL="12700" marR="5080" algn="just">
              <a:lnSpc>
                <a:spcPct val="183000"/>
              </a:lnSpc>
              <a:spcBef>
                <a:spcPts val="1885"/>
              </a:spcBef>
            </a:pPr>
            <a:r>
              <a:rPr sz="3450" spc="-80" dirty="0">
                <a:solidFill>
                  <a:srgbClr val="251B57"/>
                </a:solidFill>
                <a:latin typeface="Century Gothic"/>
                <a:cs typeface="Century Gothic"/>
              </a:rPr>
              <a:t>Python: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200" dirty="0">
                <a:solidFill>
                  <a:srgbClr val="251B57"/>
                </a:solidFill>
                <a:latin typeface="Century Gothic"/>
                <a:cs typeface="Century Gothic"/>
              </a:rPr>
              <a:t>Federated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95" dirty="0">
                <a:solidFill>
                  <a:srgbClr val="251B57"/>
                </a:solidFill>
                <a:latin typeface="Century Gothic"/>
                <a:cs typeface="Century Gothic"/>
              </a:rPr>
              <a:t>Learning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340" dirty="0">
                <a:solidFill>
                  <a:srgbClr val="251B57"/>
                </a:solidFill>
                <a:latin typeface="Century Gothic"/>
                <a:cs typeface="Century Gothic"/>
              </a:rPr>
              <a:t>&amp;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25" dirty="0">
                <a:solidFill>
                  <a:srgbClr val="251B57"/>
                </a:solidFill>
                <a:latin typeface="Century Gothic"/>
                <a:cs typeface="Century Gothic"/>
              </a:rPr>
              <a:t>CBDF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130" dirty="0">
                <a:solidFill>
                  <a:srgbClr val="251B57"/>
                </a:solidFill>
                <a:latin typeface="Century Gothic"/>
                <a:cs typeface="Century Gothic"/>
              </a:rPr>
              <a:t>logic</a:t>
            </a:r>
            <a:r>
              <a:rPr sz="3450" spc="-12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204" dirty="0">
                <a:solidFill>
                  <a:srgbClr val="251B57"/>
                </a:solidFill>
                <a:latin typeface="Century Gothic"/>
                <a:cs typeface="Century Gothic"/>
              </a:rPr>
              <a:t>VMware: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5" dirty="0">
                <a:solidFill>
                  <a:srgbClr val="251B57"/>
                </a:solidFill>
                <a:latin typeface="Century Gothic"/>
                <a:cs typeface="Century Gothic"/>
              </a:rPr>
              <a:t>Multi-</a:t>
            </a:r>
            <a:r>
              <a:rPr sz="3450" spc="-185" dirty="0">
                <a:solidFill>
                  <a:srgbClr val="251B57"/>
                </a:solidFill>
                <a:latin typeface="Century Gothic"/>
                <a:cs typeface="Century Gothic"/>
              </a:rPr>
              <a:t>node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40" dirty="0">
                <a:solidFill>
                  <a:srgbClr val="251B57"/>
                </a:solidFill>
                <a:latin typeface="Century Gothic"/>
                <a:cs typeface="Century Gothic"/>
              </a:rPr>
              <a:t>network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5" dirty="0">
                <a:solidFill>
                  <a:srgbClr val="251B57"/>
                </a:solidFill>
                <a:latin typeface="Century Gothic"/>
                <a:cs typeface="Century Gothic"/>
              </a:rPr>
              <a:t>simulation</a:t>
            </a:r>
            <a:r>
              <a:rPr sz="3450" spc="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20" dirty="0">
                <a:solidFill>
                  <a:srgbClr val="251B57"/>
                </a:solidFill>
                <a:latin typeface="Century Gothic"/>
                <a:cs typeface="Century Gothic"/>
              </a:rPr>
              <a:t>Ubuntu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dirty="0">
                <a:solidFill>
                  <a:srgbClr val="251B57"/>
                </a:solidFill>
                <a:latin typeface="Century Gothic"/>
                <a:cs typeface="Century Gothic"/>
              </a:rPr>
              <a:t>Linux: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70" dirty="0">
                <a:solidFill>
                  <a:srgbClr val="251B57"/>
                </a:solidFill>
                <a:latin typeface="Century Gothic"/>
                <a:cs typeface="Century Gothic"/>
              </a:rPr>
              <a:t>Server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190" dirty="0">
                <a:solidFill>
                  <a:srgbClr val="251B57"/>
                </a:solidFill>
                <a:latin typeface="Century Gothic"/>
                <a:cs typeface="Century Gothic"/>
              </a:rPr>
              <a:t>and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290" dirty="0">
                <a:solidFill>
                  <a:srgbClr val="251B57"/>
                </a:solidFill>
                <a:latin typeface="Century Gothic"/>
                <a:cs typeface="Century Gothic"/>
              </a:rPr>
              <a:t>edge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-185" dirty="0">
                <a:solidFill>
                  <a:srgbClr val="251B57"/>
                </a:solidFill>
                <a:latin typeface="Century Gothic"/>
                <a:cs typeface="Century Gothic"/>
              </a:rPr>
              <a:t>node</a:t>
            </a:r>
            <a:r>
              <a:rPr sz="3450" spc="-38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spc="15" dirty="0">
                <a:solidFill>
                  <a:srgbClr val="251B57"/>
                </a:solidFill>
                <a:latin typeface="Century Gothic"/>
                <a:cs typeface="Century Gothic"/>
              </a:rPr>
              <a:t>OS</a:t>
            </a:r>
            <a:endParaRPr sz="345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35"/>
              </a:spcBef>
            </a:pPr>
            <a:r>
              <a:rPr spc="270" dirty="0"/>
              <a:t>Network</a:t>
            </a:r>
            <a:r>
              <a:rPr spc="-235" dirty="0"/>
              <a:t> </a:t>
            </a:r>
            <a:r>
              <a:rPr spc="-60" dirty="0"/>
              <a:t>&amp;</a:t>
            </a:r>
            <a:r>
              <a:rPr spc="-229" dirty="0"/>
              <a:t> </a:t>
            </a:r>
            <a:r>
              <a:rPr spc="225" dirty="0"/>
              <a:t>Security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pc="225" dirty="0"/>
          </a:p>
          <a:p>
            <a:pPr marL="76835">
              <a:lnSpc>
                <a:spcPct val="100000"/>
              </a:lnSpc>
              <a:spcBef>
                <a:spcPts val="5"/>
              </a:spcBef>
            </a:pPr>
            <a:r>
              <a:rPr sz="3450" b="0" spc="70" dirty="0">
                <a:solidFill>
                  <a:srgbClr val="251B57"/>
                </a:solidFill>
                <a:latin typeface="Century Gothic"/>
                <a:cs typeface="Century Gothic"/>
              </a:rPr>
              <a:t>Snort</a:t>
            </a:r>
            <a:r>
              <a:rPr sz="3450" b="0" spc="-320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135" dirty="0">
                <a:solidFill>
                  <a:srgbClr val="251B57"/>
                </a:solidFill>
                <a:latin typeface="Century Gothic"/>
                <a:cs typeface="Century Gothic"/>
              </a:rPr>
              <a:t>3:</a:t>
            </a:r>
            <a:r>
              <a:rPr sz="3450" b="0" spc="-31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35" dirty="0">
                <a:solidFill>
                  <a:srgbClr val="251B57"/>
                </a:solidFill>
                <a:latin typeface="Century Gothic"/>
                <a:cs typeface="Century Gothic"/>
              </a:rPr>
              <a:t>Network</a:t>
            </a:r>
            <a:r>
              <a:rPr sz="3450" b="0" spc="-31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150" dirty="0">
                <a:solidFill>
                  <a:srgbClr val="251B57"/>
                </a:solidFill>
                <a:latin typeface="Century Gothic"/>
                <a:cs typeface="Century Gothic"/>
              </a:rPr>
              <a:t>anomaly</a:t>
            </a:r>
            <a:r>
              <a:rPr sz="3450" b="0" spc="-320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100" dirty="0">
                <a:solidFill>
                  <a:srgbClr val="251B57"/>
                </a:solidFill>
                <a:latin typeface="Century Gothic"/>
                <a:cs typeface="Century Gothic"/>
              </a:rPr>
              <a:t>detection</a:t>
            </a:r>
            <a:endParaRPr sz="3450">
              <a:latin typeface="Century Gothic"/>
              <a:cs typeface="Century Gothic"/>
            </a:endParaRPr>
          </a:p>
          <a:p>
            <a:pPr marL="12700" marR="205740" indent="64135">
              <a:lnSpc>
                <a:spcPct val="152200"/>
              </a:lnSpc>
              <a:spcBef>
                <a:spcPts val="1270"/>
              </a:spcBef>
            </a:pPr>
            <a:r>
              <a:rPr sz="3450" b="0" spc="-20" dirty="0">
                <a:solidFill>
                  <a:srgbClr val="251B57"/>
                </a:solidFill>
                <a:latin typeface="Century Gothic"/>
                <a:cs typeface="Century Gothic"/>
              </a:rPr>
              <a:t>IPTables</a:t>
            </a:r>
            <a:r>
              <a:rPr sz="3450" b="0" spc="-32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380" dirty="0">
                <a:solidFill>
                  <a:srgbClr val="251B57"/>
                </a:solidFill>
                <a:latin typeface="Century Gothic"/>
                <a:cs typeface="Century Gothic"/>
              </a:rPr>
              <a:t>/</a:t>
            </a:r>
            <a:r>
              <a:rPr sz="3450" b="0" spc="-320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75" dirty="0">
                <a:solidFill>
                  <a:srgbClr val="251B57"/>
                </a:solidFill>
                <a:latin typeface="Century Gothic"/>
                <a:cs typeface="Century Gothic"/>
              </a:rPr>
              <a:t>UFW:</a:t>
            </a:r>
            <a:r>
              <a:rPr sz="3450" b="0" spc="-320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145" dirty="0">
                <a:solidFill>
                  <a:srgbClr val="251B57"/>
                </a:solidFill>
                <a:latin typeface="Century Gothic"/>
                <a:cs typeface="Century Gothic"/>
              </a:rPr>
              <a:t>Automated</a:t>
            </a:r>
            <a:r>
              <a:rPr sz="3450" b="0" spc="-320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10" dirty="0">
                <a:solidFill>
                  <a:srgbClr val="251B57"/>
                </a:solidFill>
                <a:latin typeface="Century Gothic"/>
                <a:cs typeface="Century Gothic"/>
              </a:rPr>
              <a:t>firewall isolation</a:t>
            </a:r>
            <a:endParaRPr sz="3450">
              <a:latin typeface="Century Gothic"/>
              <a:cs typeface="Century Gothic"/>
            </a:endParaRPr>
          </a:p>
          <a:p>
            <a:pPr marL="76835">
              <a:lnSpc>
                <a:spcPct val="100000"/>
              </a:lnSpc>
              <a:spcBef>
                <a:spcPts val="2160"/>
              </a:spcBef>
            </a:pPr>
            <a:r>
              <a:rPr sz="3450" b="0" dirty="0">
                <a:solidFill>
                  <a:srgbClr val="251B57"/>
                </a:solidFill>
                <a:latin typeface="Century Gothic"/>
                <a:cs typeface="Century Gothic"/>
              </a:rPr>
              <a:t>Flask</a:t>
            </a:r>
            <a:r>
              <a:rPr sz="3450" b="0" spc="-300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380" dirty="0">
                <a:solidFill>
                  <a:srgbClr val="251B57"/>
                </a:solidFill>
                <a:latin typeface="Century Gothic"/>
                <a:cs typeface="Century Gothic"/>
              </a:rPr>
              <a:t>/</a:t>
            </a:r>
            <a:r>
              <a:rPr sz="3450" b="0" spc="-29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310" dirty="0">
                <a:solidFill>
                  <a:srgbClr val="251B57"/>
                </a:solidFill>
                <a:latin typeface="Century Gothic"/>
                <a:cs typeface="Century Gothic"/>
              </a:rPr>
              <a:t>REST</a:t>
            </a:r>
            <a:r>
              <a:rPr sz="3450" b="0" spc="-295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10" dirty="0">
                <a:solidFill>
                  <a:srgbClr val="251B57"/>
                </a:solidFill>
                <a:latin typeface="Century Gothic"/>
                <a:cs typeface="Century Gothic"/>
              </a:rPr>
              <a:t>APIs:</a:t>
            </a:r>
            <a:r>
              <a:rPr sz="3450" b="0" spc="-300" dirty="0">
                <a:solidFill>
                  <a:srgbClr val="251B57"/>
                </a:solidFill>
                <a:latin typeface="Century Gothic"/>
                <a:cs typeface="Century Gothic"/>
              </a:rPr>
              <a:t> </a:t>
            </a:r>
            <a:r>
              <a:rPr sz="3450" b="0" spc="-100" dirty="0">
                <a:solidFill>
                  <a:srgbClr val="251B57"/>
                </a:solidFill>
                <a:latin typeface="Century Gothic"/>
                <a:cs typeface="Century Gothic"/>
              </a:rPr>
              <a:t>Client-</a:t>
            </a:r>
            <a:r>
              <a:rPr sz="3450" b="0" spc="-10" dirty="0">
                <a:solidFill>
                  <a:srgbClr val="251B57"/>
                </a:solidFill>
                <a:latin typeface="Century Gothic"/>
                <a:cs typeface="Century Gothic"/>
              </a:rPr>
              <a:t>server</a:t>
            </a:r>
            <a:endParaRPr sz="345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435"/>
              </a:spcBef>
            </a:pPr>
            <a:r>
              <a:rPr sz="3450" b="0" spc="-25" dirty="0">
                <a:solidFill>
                  <a:srgbClr val="251B57"/>
                </a:solidFill>
                <a:latin typeface="Century Gothic"/>
                <a:cs typeface="Century Gothic"/>
              </a:rPr>
              <a:t>communication</a:t>
            </a:r>
            <a:endParaRPr sz="345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31883" y="298338"/>
            <a:ext cx="64325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35" dirty="0">
                <a:solidFill>
                  <a:srgbClr val="731B9E"/>
                </a:solidFill>
                <a:latin typeface="Century Gothic"/>
                <a:cs typeface="Century Gothic"/>
              </a:rPr>
              <a:t>10/9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465" y="1572416"/>
            <a:ext cx="14131925" cy="7359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7299"/>
              </a:lnSpc>
              <a:spcBef>
                <a:spcPts val="90"/>
              </a:spcBef>
              <a:tabLst>
                <a:tab pos="9689465" algn="l"/>
              </a:tabLst>
            </a:pPr>
            <a:r>
              <a:rPr sz="2700" b="1" dirty="0">
                <a:solidFill>
                  <a:srgbClr val="3D0961"/>
                </a:solidFill>
                <a:latin typeface="Calibri"/>
                <a:cs typeface="Calibri"/>
              </a:rPr>
              <a:t>[1]</a:t>
            </a:r>
            <a:r>
              <a:rPr sz="2700" b="1" spc="39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85" dirty="0">
                <a:solidFill>
                  <a:srgbClr val="3D0961"/>
                </a:solidFill>
                <a:latin typeface="Calibri"/>
                <a:cs typeface="Calibri"/>
              </a:rPr>
              <a:t>Anastasiadis,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130" dirty="0">
                <a:solidFill>
                  <a:srgbClr val="3D0961"/>
                </a:solidFill>
                <a:latin typeface="Calibri"/>
                <a:cs typeface="Calibri"/>
              </a:rPr>
              <a:t>D.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65" dirty="0">
                <a:solidFill>
                  <a:srgbClr val="3D0961"/>
                </a:solidFill>
                <a:latin typeface="Calibri"/>
                <a:cs typeface="Calibri"/>
              </a:rPr>
              <a:t>et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100" dirty="0">
                <a:solidFill>
                  <a:srgbClr val="3D0961"/>
                </a:solidFill>
                <a:latin typeface="Calibri"/>
                <a:cs typeface="Calibri"/>
              </a:rPr>
              <a:t>al.,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00" dirty="0">
                <a:solidFill>
                  <a:srgbClr val="3D0961"/>
                </a:solidFill>
                <a:latin typeface="Calibri"/>
                <a:cs typeface="Calibri"/>
              </a:rPr>
              <a:t>"Defending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405" dirty="0">
                <a:solidFill>
                  <a:srgbClr val="3D0961"/>
                </a:solidFill>
                <a:latin typeface="Calibri"/>
                <a:cs typeface="Calibri"/>
              </a:rPr>
              <a:t>FL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35" dirty="0">
                <a:solidFill>
                  <a:srgbClr val="3D0961"/>
                </a:solidFill>
                <a:latin typeface="Calibri"/>
                <a:cs typeface="Calibri"/>
              </a:rPr>
              <a:t>from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75" dirty="0">
                <a:solidFill>
                  <a:srgbClr val="3D0961"/>
                </a:solidFill>
                <a:latin typeface="Calibri"/>
                <a:cs typeface="Calibri"/>
              </a:rPr>
              <a:t>Collaborative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25" dirty="0">
                <a:solidFill>
                  <a:srgbClr val="3D0961"/>
                </a:solidFill>
                <a:latin typeface="Calibri"/>
                <a:cs typeface="Calibri"/>
              </a:rPr>
              <a:t>Poisoning</a:t>
            </a:r>
            <a:r>
              <a:rPr sz="2700" b="1" spc="40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65" dirty="0">
                <a:solidFill>
                  <a:srgbClr val="3D0961"/>
                </a:solidFill>
                <a:latin typeface="Calibri"/>
                <a:cs typeface="Calibri"/>
              </a:rPr>
              <a:t>Attacks: </a:t>
            </a:r>
            <a:r>
              <a:rPr sz="2700" b="1" spc="470" dirty="0">
                <a:solidFill>
                  <a:srgbClr val="3D0961"/>
                </a:solidFill>
                <a:latin typeface="Calibri"/>
                <a:cs typeface="Calibri"/>
              </a:rPr>
              <a:t>A</a:t>
            </a:r>
            <a:r>
              <a:rPr sz="2700" b="1" spc="1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00" dirty="0">
                <a:solidFill>
                  <a:srgbClr val="3D0961"/>
                </a:solidFill>
                <a:latin typeface="Calibri"/>
                <a:cs typeface="Calibri"/>
              </a:rPr>
              <a:t>Clique-</a:t>
            </a:r>
            <a:r>
              <a:rPr sz="2700" b="1" spc="350" dirty="0">
                <a:solidFill>
                  <a:srgbClr val="3D0961"/>
                </a:solidFill>
                <a:latin typeface="Calibri"/>
                <a:cs typeface="Calibri"/>
              </a:rPr>
              <a:t>Based</a:t>
            </a:r>
            <a:r>
              <a:rPr sz="2700" b="1" spc="1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00" dirty="0">
                <a:solidFill>
                  <a:srgbClr val="3D0961"/>
                </a:solidFill>
                <a:latin typeface="Calibri"/>
                <a:cs typeface="Calibri"/>
              </a:rPr>
              <a:t>Detection</a:t>
            </a:r>
            <a:r>
              <a:rPr sz="2700" b="1" spc="1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85" dirty="0">
                <a:solidFill>
                  <a:srgbClr val="3D0961"/>
                </a:solidFill>
                <a:latin typeface="Calibri"/>
                <a:cs typeface="Calibri"/>
              </a:rPr>
              <a:t>Framework",</a:t>
            </a:r>
            <a:r>
              <a:rPr sz="2700" b="1" spc="1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75" dirty="0">
                <a:solidFill>
                  <a:srgbClr val="3D0961"/>
                </a:solidFill>
                <a:latin typeface="Calibri"/>
                <a:cs typeface="Calibri"/>
              </a:rPr>
              <a:t>Electronics,</a:t>
            </a:r>
            <a:r>
              <a:rPr sz="2700" b="1" dirty="0">
                <a:solidFill>
                  <a:srgbClr val="3D0961"/>
                </a:solidFill>
                <a:latin typeface="Calibri"/>
                <a:cs typeface="Calibri"/>
              </a:rPr>
              <a:t>	</a:t>
            </a:r>
            <a:r>
              <a:rPr sz="2700" b="1" spc="215" dirty="0">
                <a:solidFill>
                  <a:srgbClr val="3D0961"/>
                </a:solidFill>
                <a:latin typeface="Calibri"/>
                <a:cs typeface="Calibri"/>
              </a:rPr>
              <a:t>(2025).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700">
              <a:latin typeface="Calibri"/>
              <a:cs typeface="Calibri"/>
            </a:endParaRPr>
          </a:p>
          <a:p>
            <a:pPr marL="12700" marR="5080">
              <a:lnSpc>
                <a:spcPct val="127299"/>
              </a:lnSpc>
              <a:tabLst>
                <a:tab pos="5401945" algn="l"/>
              </a:tabLst>
            </a:pPr>
            <a:r>
              <a:rPr sz="2700" b="1" spc="160" dirty="0">
                <a:solidFill>
                  <a:srgbClr val="3D0961"/>
                </a:solidFill>
                <a:latin typeface="Calibri"/>
                <a:cs typeface="Calibri"/>
              </a:rPr>
              <a:t>[2]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45" dirty="0">
                <a:solidFill>
                  <a:srgbClr val="3D0961"/>
                </a:solidFill>
                <a:latin typeface="Calibri"/>
                <a:cs typeface="Calibri"/>
              </a:rPr>
              <a:t>Zhang,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185" dirty="0">
                <a:solidFill>
                  <a:srgbClr val="3D0961"/>
                </a:solidFill>
                <a:latin typeface="Calibri"/>
                <a:cs typeface="Calibri"/>
              </a:rPr>
              <a:t>H.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65" dirty="0">
                <a:solidFill>
                  <a:srgbClr val="3D0961"/>
                </a:solidFill>
                <a:latin typeface="Calibri"/>
                <a:cs typeface="Calibri"/>
              </a:rPr>
              <a:t>et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100" dirty="0">
                <a:solidFill>
                  <a:srgbClr val="3D0961"/>
                </a:solidFill>
                <a:latin typeface="Calibri"/>
                <a:cs typeface="Calibri"/>
              </a:rPr>
              <a:t>al.,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50" dirty="0">
                <a:solidFill>
                  <a:srgbClr val="3D0961"/>
                </a:solidFill>
                <a:latin typeface="Calibri"/>
                <a:cs typeface="Calibri"/>
              </a:rPr>
              <a:t>"SoK: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75" dirty="0">
                <a:solidFill>
                  <a:srgbClr val="3D0961"/>
                </a:solidFill>
                <a:latin typeface="Calibri"/>
                <a:cs typeface="Calibri"/>
              </a:rPr>
              <a:t>Benchmarking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25" dirty="0">
                <a:solidFill>
                  <a:srgbClr val="3D0961"/>
                </a:solidFill>
                <a:latin typeface="Calibri"/>
                <a:cs typeface="Calibri"/>
              </a:rPr>
              <a:t>Poisoning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30" dirty="0">
                <a:solidFill>
                  <a:srgbClr val="3D0961"/>
                </a:solidFill>
                <a:latin typeface="Calibri"/>
                <a:cs typeface="Calibri"/>
              </a:rPr>
              <a:t>Attacks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65" dirty="0">
                <a:solidFill>
                  <a:srgbClr val="3D0961"/>
                </a:solidFill>
                <a:latin typeface="Calibri"/>
                <a:cs typeface="Calibri"/>
              </a:rPr>
              <a:t>and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05" dirty="0">
                <a:solidFill>
                  <a:srgbClr val="3D0961"/>
                </a:solidFill>
                <a:latin typeface="Calibri"/>
                <a:cs typeface="Calibri"/>
              </a:rPr>
              <a:t>Defenses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60" dirty="0">
                <a:solidFill>
                  <a:srgbClr val="3D0961"/>
                </a:solidFill>
                <a:latin typeface="Calibri"/>
                <a:cs typeface="Calibri"/>
              </a:rPr>
              <a:t>in </a:t>
            </a:r>
            <a:r>
              <a:rPr sz="2700" b="1" spc="310" dirty="0">
                <a:solidFill>
                  <a:srgbClr val="3D0961"/>
                </a:solidFill>
                <a:latin typeface="Calibri"/>
                <a:cs typeface="Calibri"/>
              </a:rPr>
              <a:t>Federated</a:t>
            </a:r>
            <a:r>
              <a:rPr sz="2700" b="1" spc="1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60" dirty="0">
                <a:solidFill>
                  <a:srgbClr val="3D0961"/>
                </a:solidFill>
                <a:latin typeface="Calibri"/>
                <a:cs typeface="Calibri"/>
              </a:rPr>
              <a:t>Learning",</a:t>
            </a:r>
            <a:r>
              <a:rPr sz="2700" b="1" spc="1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29" dirty="0">
                <a:solidFill>
                  <a:srgbClr val="3D0961"/>
                </a:solidFill>
                <a:latin typeface="Calibri"/>
                <a:cs typeface="Calibri"/>
              </a:rPr>
              <a:t>arXiv,</a:t>
            </a:r>
            <a:r>
              <a:rPr sz="2700" b="1" dirty="0">
                <a:solidFill>
                  <a:srgbClr val="3D0961"/>
                </a:solidFill>
                <a:latin typeface="Calibri"/>
                <a:cs typeface="Calibri"/>
              </a:rPr>
              <a:t>	</a:t>
            </a:r>
            <a:r>
              <a:rPr sz="2700" b="1" spc="215" dirty="0">
                <a:solidFill>
                  <a:srgbClr val="3D0961"/>
                </a:solidFill>
                <a:latin typeface="Calibri"/>
                <a:cs typeface="Calibri"/>
              </a:rPr>
              <a:t>(2025).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700">
              <a:latin typeface="Calibri"/>
              <a:cs typeface="Calibri"/>
            </a:endParaRPr>
          </a:p>
          <a:p>
            <a:pPr marL="106045" marR="366395" indent="-93980">
              <a:lnSpc>
                <a:spcPct val="127299"/>
              </a:lnSpc>
              <a:tabLst>
                <a:tab pos="1772285" algn="l"/>
              </a:tabLst>
            </a:pPr>
            <a:r>
              <a:rPr sz="2700" b="1" spc="160" dirty="0">
                <a:solidFill>
                  <a:srgbClr val="3D0961"/>
                </a:solidFill>
                <a:latin typeface="Calibri"/>
                <a:cs typeface="Calibri"/>
              </a:rPr>
              <a:t>[3]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35" dirty="0">
                <a:solidFill>
                  <a:srgbClr val="3D0961"/>
                </a:solidFill>
                <a:latin typeface="Calibri"/>
                <a:cs typeface="Calibri"/>
              </a:rPr>
              <a:t>Xie,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155" dirty="0">
                <a:solidFill>
                  <a:srgbClr val="3D0961"/>
                </a:solidFill>
                <a:latin typeface="Calibri"/>
                <a:cs typeface="Calibri"/>
              </a:rPr>
              <a:t>Y.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65" dirty="0">
                <a:solidFill>
                  <a:srgbClr val="3D0961"/>
                </a:solidFill>
                <a:latin typeface="Calibri"/>
                <a:cs typeface="Calibri"/>
              </a:rPr>
              <a:t>et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100" dirty="0">
                <a:solidFill>
                  <a:srgbClr val="3D0961"/>
                </a:solidFill>
                <a:latin typeface="Calibri"/>
                <a:cs typeface="Calibri"/>
              </a:rPr>
              <a:t>al.,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29" dirty="0">
                <a:solidFill>
                  <a:srgbClr val="3D0961"/>
                </a:solidFill>
                <a:latin typeface="Calibri"/>
                <a:cs typeface="Calibri"/>
              </a:rPr>
              <a:t>"Model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25" dirty="0">
                <a:solidFill>
                  <a:srgbClr val="3D0961"/>
                </a:solidFill>
                <a:latin typeface="Calibri"/>
                <a:cs typeface="Calibri"/>
              </a:rPr>
              <a:t>Poisoning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30" dirty="0">
                <a:solidFill>
                  <a:srgbClr val="3D0961"/>
                </a:solidFill>
                <a:latin typeface="Calibri"/>
                <a:cs typeface="Calibri"/>
              </a:rPr>
              <a:t>Attacks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65" dirty="0">
                <a:solidFill>
                  <a:srgbClr val="3D0961"/>
                </a:solidFill>
                <a:latin typeface="Calibri"/>
                <a:cs typeface="Calibri"/>
              </a:rPr>
              <a:t>to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405" dirty="0">
                <a:solidFill>
                  <a:srgbClr val="3D0961"/>
                </a:solidFill>
                <a:latin typeface="Calibri"/>
                <a:cs typeface="Calibri"/>
              </a:rPr>
              <a:t>FL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60" dirty="0">
                <a:solidFill>
                  <a:srgbClr val="3D0961"/>
                </a:solidFill>
                <a:latin typeface="Calibri"/>
                <a:cs typeface="Calibri"/>
              </a:rPr>
              <a:t>via</a:t>
            </a:r>
            <a:r>
              <a:rPr sz="2700" b="1" spc="1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29" dirty="0">
                <a:solidFill>
                  <a:srgbClr val="3D0961"/>
                </a:solidFill>
                <a:latin typeface="Calibri"/>
                <a:cs typeface="Calibri"/>
              </a:rPr>
              <a:t>Multi-</a:t>
            </a:r>
            <a:r>
              <a:rPr sz="2700" b="1" spc="380" dirty="0">
                <a:solidFill>
                  <a:srgbClr val="3D0961"/>
                </a:solidFill>
                <a:latin typeface="Calibri"/>
                <a:cs typeface="Calibri"/>
              </a:rPr>
              <a:t>Round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60" dirty="0">
                <a:solidFill>
                  <a:srgbClr val="3D0961"/>
                </a:solidFill>
                <a:latin typeface="Calibri"/>
                <a:cs typeface="Calibri"/>
              </a:rPr>
              <a:t>Consistency", </a:t>
            </a:r>
            <a:r>
              <a:rPr sz="2700" b="1" spc="229" dirty="0">
                <a:solidFill>
                  <a:srgbClr val="3D0961"/>
                </a:solidFill>
                <a:latin typeface="Calibri"/>
                <a:cs typeface="Calibri"/>
              </a:rPr>
              <a:t>arXiv,</a:t>
            </a:r>
            <a:r>
              <a:rPr sz="2700" b="1" dirty="0">
                <a:solidFill>
                  <a:srgbClr val="3D0961"/>
                </a:solidFill>
                <a:latin typeface="Calibri"/>
                <a:cs typeface="Calibri"/>
              </a:rPr>
              <a:t>	</a:t>
            </a:r>
            <a:r>
              <a:rPr sz="2700" b="1" spc="210" dirty="0">
                <a:solidFill>
                  <a:srgbClr val="3D0961"/>
                </a:solidFill>
                <a:latin typeface="Calibri"/>
                <a:cs typeface="Calibri"/>
              </a:rPr>
              <a:t>(2024).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700">
              <a:latin typeface="Calibri"/>
              <a:cs typeface="Calibri"/>
            </a:endParaRPr>
          </a:p>
          <a:p>
            <a:pPr marL="12700" marR="5080">
              <a:lnSpc>
                <a:spcPct val="127299"/>
              </a:lnSpc>
              <a:tabLst>
                <a:tab pos="4544060" algn="l"/>
              </a:tabLst>
            </a:pPr>
            <a:r>
              <a:rPr sz="2700" b="1" spc="165" dirty="0">
                <a:solidFill>
                  <a:srgbClr val="3D0961"/>
                </a:solidFill>
                <a:latin typeface="Calibri"/>
                <a:cs typeface="Calibri"/>
              </a:rPr>
              <a:t>[4]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75" dirty="0">
                <a:solidFill>
                  <a:srgbClr val="3D0961"/>
                </a:solidFill>
                <a:latin typeface="Calibri"/>
                <a:cs typeface="Calibri"/>
              </a:rPr>
              <a:t>Xu,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195" dirty="0">
                <a:solidFill>
                  <a:srgbClr val="3D0961"/>
                </a:solidFill>
                <a:latin typeface="Calibri"/>
                <a:cs typeface="Calibri"/>
              </a:rPr>
              <a:t>R.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65" dirty="0">
                <a:solidFill>
                  <a:srgbClr val="3D0961"/>
                </a:solidFill>
                <a:latin typeface="Calibri"/>
                <a:cs typeface="Calibri"/>
              </a:rPr>
              <a:t>et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100" dirty="0">
                <a:solidFill>
                  <a:srgbClr val="3D0961"/>
                </a:solidFill>
                <a:latin typeface="Calibri"/>
                <a:cs typeface="Calibri"/>
              </a:rPr>
              <a:t>al.,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54" dirty="0">
                <a:solidFill>
                  <a:srgbClr val="3D0961"/>
                </a:solidFill>
                <a:latin typeface="Calibri"/>
                <a:cs typeface="Calibri"/>
              </a:rPr>
              <a:t>"Dual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54" dirty="0">
                <a:solidFill>
                  <a:srgbClr val="3D0961"/>
                </a:solidFill>
                <a:latin typeface="Calibri"/>
                <a:cs typeface="Calibri"/>
              </a:rPr>
              <a:t>Defense: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85" dirty="0">
                <a:solidFill>
                  <a:srgbClr val="3D0961"/>
                </a:solidFill>
                <a:latin typeface="Calibri"/>
                <a:cs typeface="Calibri"/>
              </a:rPr>
              <a:t>Enhancing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95" dirty="0">
                <a:solidFill>
                  <a:srgbClr val="3D0961"/>
                </a:solidFill>
                <a:latin typeface="Calibri"/>
                <a:cs typeface="Calibri"/>
              </a:rPr>
              <a:t>Privacy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65" dirty="0">
                <a:solidFill>
                  <a:srgbClr val="3D0961"/>
                </a:solidFill>
                <a:latin typeface="Calibri"/>
                <a:cs typeface="Calibri"/>
              </a:rPr>
              <a:t>and</a:t>
            </a:r>
            <a:r>
              <a:rPr sz="2700" b="1" spc="55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290" dirty="0">
                <a:solidFill>
                  <a:srgbClr val="3D0961"/>
                </a:solidFill>
                <a:latin typeface="Calibri"/>
                <a:cs typeface="Calibri"/>
              </a:rPr>
              <a:t>Mitigating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  </a:t>
            </a:r>
            <a:r>
              <a:rPr sz="2700" b="1" spc="315" dirty="0">
                <a:solidFill>
                  <a:srgbClr val="3D0961"/>
                </a:solidFill>
                <a:latin typeface="Calibri"/>
                <a:cs typeface="Calibri"/>
              </a:rPr>
              <a:t>Poisoning </a:t>
            </a:r>
            <a:r>
              <a:rPr sz="2700" b="1" spc="330" dirty="0">
                <a:solidFill>
                  <a:srgbClr val="3D0961"/>
                </a:solidFill>
                <a:latin typeface="Calibri"/>
                <a:cs typeface="Calibri"/>
              </a:rPr>
              <a:t>Attacks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85" dirty="0">
                <a:solidFill>
                  <a:srgbClr val="3D0961"/>
                </a:solidFill>
                <a:latin typeface="Calibri"/>
                <a:cs typeface="Calibri"/>
              </a:rPr>
              <a:t>in</a:t>
            </a:r>
            <a:r>
              <a:rPr sz="2700" b="1" spc="13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195" dirty="0">
                <a:solidFill>
                  <a:srgbClr val="3D0961"/>
                </a:solidFill>
                <a:latin typeface="Calibri"/>
                <a:cs typeface="Calibri"/>
              </a:rPr>
              <a:t>FL",</a:t>
            </a:r>
            <a:r>
              <a:rPr sz="2700" b="1" spc="1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65" dirty="0">
                <a:solidFill>
                  <a:srgbClr val="3D0961"/>
                </a:solidFill>
                <a:latin typeface="Calibri"/>
                <a:cs typeface="Calibri"/>
              </a:rPr>
              <a:t>NeurIPS,</a:t>
            </a:r>
            <a:r>
              <a:rPr sz="2700" b="1" dirty="0">
                <a:solidFill>
                  <a:srgbClr val="3D0961"/>
                </a:solidFill>
                <a:latin typeface="Calibri"/>
                <a:cs typeface="Calibri"/>
              </a:rPr>
              <a:t>	</a:t>
            </a:r>
            <a:r>
              <a:rPr sz="2700" b="1" spc="210" dirty="0">
                <a:solidFill>
                  <a:srgbClr val="3D0961"/>
                </a:solidFill>
                <a:latin typeface="Calibri"/>
                <a:cs typeface="Calibri"/>
              </a:rPr>
              <a:t>(2024).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700">
              <a:latin typeface="Calibri"/>
              <a:cs typeface="Calibri"/>
            </a:endParaRPr>
          </a:p>
          <a:p>
            <a:pPr marL="12700" marR="5080">
              <a:lnSpc>
                <a:spcPct val="127299"/>
              </a:lnSpc>
              <a:tabLst>
                <a:tab pos="3299460" algn="l"/>
              </a:tabLst>
            </a:pPr>
            <a:r>
              <a:rPr sz="2700" b="1" spc="180" dirty="0">
                <a:solidFill>
                  <a:srgbClr val="3D0961"/>
                </a:solidFill>
                <a:latin typeface="Calibri"/>
                <a:cs typeface="Calibri"/>
              </a:rPr>
              <a:t>[5]</a:t>
            </a:r>
            <a:r>
              <a:rPr sz="2700" b="1" spc="6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85" dirty="0">
                <a:solidFill>
                  <a:srgbClr val="3D0961"/>
                </a:solidFill>
                <a:latin typeface="Calibri"/>
                <a:cs typeface="Calibri"/>
              </a:rPr>
              <a:t>Hasan,</a:t>
            </a:r>
            <a:r>
              <a:rPr sz="2700" b="1" spc="6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60" dirty="0">
                <a:solidFill>
                  <a:srgbClr val="3D0961"/>
                </a:solidFill>
                <a:latin typeface="Calibri"/>
                <a:cs typeface="Calibri"/>
              </a:rPr>
              <a:t>M.</a:t>
            </a:r>
            <a:r>
              <a:rPr sz="2700" b="1" spc="6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3D0961"/>
                </a:solidFill>
                <a:latin typeface="Calibri"/>
                <a:cs typeface="Calibri"/>
              </a:rPr>
              <a:t>M.,</a:t>
            </a:r>
            <a:r>
              <a:rPr sz="2700" b="1" spc="6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75" dirty="0">
                <a:solidFill>
                  <a:srgbClr val="3D0961"/>
                </a:solidFill>
                <a:latin typeface="Calibri"/>
                <a:cs typeface="Calibri"/>
              </a:rPr>
              <a:t>"FL</a:t>
            </a:r>
            <a:r>
              <a:rPr sz="2700" b="1" spc="6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85" dirty="0">
                <a:solidFill>
                  <a:srgbClr val="3D0961"/>
                </a:solidFill>
                <a:latin typeface="Calibri"/>
                <a:cs typeface="Calibri"/>
              </a:rPr>
              <a:t>Models</a:t>
            </a:r>
            <a:r>
              <a:rPr sz="2700" b="1" spc="6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29" dirty="0">
                <a:solidFill>
                  <a:srgbClr val="3D0961"/>
                </a:solidFill>
                <a:latin typeface="Calibri"/>
                <a:cs typeface="Calibri"/>
              </a:rPr>
              <a:t>for</a:t>
            </a:r>
            <a:r>
              <a:rPr sz="2700" b="1" spc="6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80" dirty="0">
                <a:solidFill>
                  <a:srgbClr val="3D0961"/>
                </a:solidFill>
                <a:latin typeface="Calibri"/>
                <a:cs typeface="Calibri"/>
              </a:rPr>
              <a:t>Privacy-</a:t>
            </a:r>
            <a:r>
              <a:rPr sz="2700" b="1" spc="310" dirty="0">
                <a:solidFill>
                  <a:srgbClr val="3D0961"/>
                </a:solidFill>
                <a:latin typeface="Calibri"/>
                <a:cs typeface="Calibri"/>
              </a:rPr>
              <a:t>Preserving</a:t>
            </a:r>
            <a:r>
              <a:rPr sz="2700" b="1" spc="6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05" dirty="0">
                <a:solidFill>
                  <a:srgbClr val="3D0961"/>
                </a:solidFill>
                <a:latin typeface="Calibri"/>
                <a:cs typeface="Calibri"/>
              </a:rPr>
              <a:t>AI</a:t>
            </a:r>
            <a:r>
              <a:rPr sz="2700" b="1" spc="6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85" dirty="0">
                <a:solidFill>
                  <a:srgbClr val="3D0961"/>
                </a:solidFill>
                <a:latin typeface="Calibri"/>
                <a:cs typeface="Calibri"/>
              </a:rPr>
              <a:t>in</a:t>
            </a:r>
            <a:r>
              <a:rPr sz="2700" b="1" spc="645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305" dirty="0">
                <a:solidFill>
                  <a:srgbClr val="3D0961"/>
                </a:solidFill>
                <a:latin typeface="Calibri"/>
                <a:cs typeface="Calibri"/>
              </a:rPr>
              <a:t>Enterprise</a:t>
            </a:r>
            <a:r>
              <a:rPr sz="2700" b="1" spc="64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95" dirty="0">
                <a:solidFill>
                  <a:srgbClr val="3D0961"/>
                </a:solidFill>
                <a:latin typeface="Calibri"/>
                <a:cs typeface="Calibri"/>
              </a:rPr>
              <a:t>Decision </a:t>
            </a:r>
            <a:r>
              <a:rPr sz="2700" b="1" spc="285" dirty="0">
                <a:solidFill>
                  <a:srgbClr val="3D0961"/>
                </a:solidFill>
                <a:latin typeface="Calibri"/>
                <a:cs typeface="Calibri"/>
              </a:rPr>
              <a:t>Systems",</a:t>
            </a:r>
            <a:r>
              <a:rPr sz="2700" b="1" spc="130" dirty="0">
                <a:solidFill>
                  <a:srgbClr val="3D0961"/>
                </a:solidFill>
                <a:latin typeface="Calibri"/>
                <a:cs typeface="Calibri"/>
              </a:rPr>
              <a:t> </a:t>
            </a:r>
            <a:r>
              <a:rPr sz="2700" b="1" spc="280" dirty="0">
                <a:solidFill>
                  <a:srgbClr val="3D0961"/>
                </a:solidFill>
                <a:latin typeface="Calibri"/>
                <a:cs typeface="Calibri"/>
              </a:rPr>
              <a:t>IJBEI,</a:t>
            </a:r>
            <a:r>
              <a:rPr sz="2700" b="1" dirty="0">
                <a:solidFill>
                  <a:srgbClr val="3D0961"/>
                </a:solidFill>
                <a:latin typeface="Calibri"/>
                <a:cs typeface="Calibri"/>
              </a:rPr>
              <a:t>	</a:t>
            </a:r>
            <a:r>
              <a:rPr sz="2700" b="1" spc="215" dirty="0">
                <a:solidFill>
                  <a:srgbClr val="3D0961"/>
                </a:solidFill>
                <a:latin typeface="Calibri"/>
                <a:cs typeface="Calibri"/>
              </a:rPr>
              <a:t>(2025).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2819" y="3820659"/>
            <a:ext cx="8595181" cy="64663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545626"/>
            <a:ext cx="8619239" cy="8741373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14948" y="660140"/>
            <a:ext cx="3244215" cy="663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150" spc="405" dirty="0">
                <a:solidFill>
                  <a:srgbClr val="731B9E"/>
                </a:solidFill>
              </a:rPr>
              <a:t>References</a:t>
            </a:r>
            <a:r>
              <a:rPr sz="4150" spc="100" dirty="0">
                <a:solidFill>
                  <a:srgbClr val="731B9E"/>
                </a:solidFill>
              </a:rPr>
              <a:t> </a:t>
            </a:r>
            <a:r>
              <a:rPr sz="4150" spc="-60" dirty="0">
                <a:solidFill>
                  <a:srgbClr val="731B9E"/>
                </a:solidFill>
              </a:rPr>
              <a:t>:</a:t>
            </a:r>
            <a:endParaRPr sz="4150"/>
          </a:p>
        </p:txBody>
      </p:sp>
      <p:sp>
        <p:nvSpPr>
          <p:cNvPr id="6" name="object 6"/>
          <p:cNvSpPr txBox="1"/>
          <p:nvPr/>
        </p:nvSpPr>
        <p:spPr>
          <a:xfrm>
            <a:off x="16131883" y="298338"/>
            <a:ext cx="78549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70" dirty="0">
                <a:solidFill>
                  <a:srgbClr val="731B9E"/>
                </a:solidFill>
                <a:latin typeface="Century Gothic"/>
                <a:cs typeface="Century Gothic"/>
              </a:rPr>
              <a:t>10/10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614</Words>
  <Application>Microsoft Office PowerPoint</Application>
  <PresentationFormat>مخصص</PresentationFormat>
  <Paragraphs>125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Book Antiqua</vt:lpstr>
      <vt:lpstr>Calibri</vt:lpstr>
      <vt:lpstr>Century Gothic</vt:lpstr>
      <vt:lpstr>Sans Serif Collection</vt:lpstr>
      <vt:lpstr>Tahoma</vt:lpstr>
      <vt:lpstr>Office Theme</vt:lpstr>
      <vt:lpstr>SECURING FEDERATED LEARNING ENVIRONMENTS</vt:lpstr>
      <vt:lpstr>Fundamental Concepts &amp; Architecture :</vt:lpstr>
      <vt:lpstr>Ref.</vt:lpstr>
      <vt:lpstr>Vulnerabilities &amp; Problem Statement :</vt:lpstr>
      <vt:lpstr>عرض تقديمي في PowerPoint</vt:lpstr>
      <vt:lpstr>Expected Outcomes:</vt:lpstr>
      <vt:lpstr>Project Roadmap</vt:lpstr>
      <vt:lpstr>10/8</vt:lpstr>
      <vt:lpstr>Tools &amp; Technologies</vt:lpstr>
      <vt:lpstr>References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نسخة من blue  and white Digital Transformation Proposal Presentation</dc:title>
  <dc:creator>Maryam Alasmi</dc:creator>
  <cp:keywords>DAHYlt2hSLo,BAG0rjBPrWg</cp:keywords>
  <cp:lastModifiedBy>Maryam Alasmi</cp:lastModifiedBy>
  <cp:revision>1</cp:revision>
  <dcterms:created xsi:type="dcterms:W3CDTF">2026-10-29T12:05:35Z</dcterms:created>
  <dcterms:modified xsi:type="dcterms:W3CDTF">2026-10-29T12:29:51Z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2026-10-29T00:00:00Z</vt:filetime>
  </property>
  <property fmtid="{D5CDD505-2E9C-101B-9397-08002B2CF9AE}" pid="4" name="Creator">
    <vt:lpwstr>Canva</vt:lpwstr>
  </property>
  <property fmtid="{D5CDD505-2E9C-101B-9397-08002B2CF9AE}" pid="5" name="LastSaved">
    <vt:filetime>2026-10-29T00:00:00Z</vt:filetime>
  </property>
  <property fmtid="{D5CDD505-2E9C-101B-9397-08002B2CF9AE}" pid="6" name="Producer">
    <vt:lpwstr>Canva</vt:lpwstr>
  </property>
</Properties>
</file>